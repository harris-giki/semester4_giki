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176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openxmlformats.org/officeDocument/2006/relationships/customXml" Target="../customXml/item3.xml"/><Relationship Id="rId5" Type="http://schemas.openxmlformats.org/officeDocument/2006/relationships/presProps" Target="presProps.xml"/><Relationship Id="rId10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5417218-5EB0-47E3-B075-BE039637FFF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71802" y="6286520"/>
            <a:ext cx="2947998" cy="434955"/>
          </a:xfr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EE-222 Computer Architecture         Muhammad Bilal Saif</a:t>
            </a:r>
          </a:p>
        </p:txBody>
      </p:sp>
    </p:spTree>
    <p:extLst>
      <p:ext uri="{BB962C8B-B14F-4D97-AF65-F5344CB8AC3E}">
        <p14:creationId xmlns:p14="http://schemas.microsoft.com/office/powerpoint/2010/main" val="2466209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69F3E9-91E9-422F-AB79-6E51787AFF31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zh-TW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71802" y="6286520"/>
            <a:ext cx="2947998" cy="434955"/>
          </a:xfr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EE-222 Computer Architecture         Muhammad Bilal Saif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214282" y="1285860"/>
            <a:ext cx="8572560" cy="0"/>
          </a:xfrm>
          <a:prstGeom prst="line">
            <a:avLst/>
          </a:prstGeom>
          <a:ln w="508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2483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80E022-978C-4ACC-8271-226A2010EF87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zh-TW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71802" y="6286520"/>
            <a:ext cx="2947998" cy="434955"/>
          </a:xfr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EE-222 Computer Architecture         Muhammad Bilal Saif</a:t>
            </a:r>
          </a:p>
        </p:txBody>
      </p:sp>
    </p:spTree>
    <p:extLst>
      <p:ext uri="{BB962C8B-B14F-4D97-AF65-F5344CB8AC3E}">
        <p14:creationId xmlns:p14="http://schemas.microsoft.com/office/powerpoint/2010/main" val="775534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49005B-6F0F-4B4E-9FB8-CFE8749FD324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zh-TW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71802" y="6286520"/>
            <a:ext cx="2947998" cy="434955"/>
          </a:xfr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EE-222 Computer Architecture         Muhammad Bilal Saif</a:t>
            </a: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214282" y="1285860"/>
            <a:ext cx="8572560" cy="0"/>
          </a:xfrm>
          <a:prstGeom prst="line">
            <a:avLst/>
          </a:prstGeom>
          <a:ln w="508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0490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71802" y="6286520"/>
            <a:ext cx="2947998" cy="434955"/>
          </a:xfr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EE-222 Computer Architecture         Muhammad Bilal Saif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66FDDA-6BE1-458C-8E7A-8D41C97FC493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zh-TW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2953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5F0B06-216B-483C-931A-E7908C3584B1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zh-TW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71802" y="6286520"/>
            <a:ext cx="2947998" cy="434955"/>
          </a:xfr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EE-222 Computer Architecture         Muhammad Bilal Saif</a:t>
            </a:r>
          </a:p>
        </p:txBody>
      </p:sp>
    </p:spTree>
    <p:extLst>
      <p:ext uri="{BB962C8B-B14F-4D97-AF65-F5344CB8AC3E}">
        <p14:creationId xmlns:p14="http://schemas.microsoft.com/office/powerpoint/2010/main" val="2249620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2407CD-7135-4527-9EF0-FED1120C2C66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zh-TW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71802" y="6286520"/>
            <a:ext cx="2947998" cy="434955"/>
          </a:xfr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EE-222 Computer Architecture         Muhammad Bilal Saif</a:t>
            </a:r>
          </a:p>
        </p:txBody>
      </p:sp>
    </p:spTree>
    <p:extLst>
      <p:ext uri="{BB962C8B-B14F-4D97-AF65-F5344CB8AC3E}">
        <p14:creationId xmlns:p14="http://schemas.microsoft.com/office/powerpoint/2010/main" val="4112858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927B3E-F264-4925-A8D7-AFDB0D6533BC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zh-TW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71802" y="6286520"/>
            <a:ext cx="2947998" cy="434955"/>
          </a:xfr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EE-222 Computer Architecture         Muhammad Bilal Saif</a:t>
            </a:r>
          </a:p>
        </p:txBody>
      </p:sp>
    </p:spTree>
    <p:extLst>
      <p:ext uri="{BB962C8B-B14F-4D97-AF65-F5344CB8AC3E}">
        <p14:creationId xmlns:p14="http://schemas.microsoft.com/office/powerpoint/2010/main" val="3278364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2F9F58-99F4-432D-B582-3C2CCE553C82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zh-TW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71802" y="6286520"/>
            <a:ext cx="2947998" cy="434955"/>
          </a:xfr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EE-222 Computer Architecture         Muhammad Bilal Saif</a:t>
            </a:r>
          </a:p>
        </p:txBody>
      </p:sp>
    </p:spTree>
    <p:extLst>
      <p:ext uri="{BB962C8B-B14F-4D97-AF65-F5344CB8AC3E}">
        <p14:creationId xmlns:p14="http://schemas.microsoft.com/office/powerpoint/2010/main" val="1357768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D1E82D-45CA-4184-9CC1-45DFEF88B366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zh-TW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71802" y="6286520"/>
            <a:ext cx="2947998" cy="434955"/>
          </a:xfr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EE-222 Computer Architecture         Muhammad Bilal Saif</a:t>
            </a:r>
          </a:p>
        </p:txBody>
      </p:sp>
    </p:spTree>
    <p:extLst>
      <p:ext uri="{BB962C8B-B14F-4D97-AF65-F5344CB8AC3E}">
        <p14:creationId xmlns:p14="http://schemas.microsoft.com/office/powerpoint/2010/main" val="3392765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C1358B0-2E4D-4B92-8373-A7016FBB329F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zh-TW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71802" y="6286520"/>
            <a:ext cx="2947998" cy="434955"/>
          </a:xfr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EE-222 Computer Architecture         Muhammad Bilal Saif</a:t>
            </a:r>
          </a:p>
        </p:txBody>
      </p:sp>
    </p:spTree>
    <p:extLst>
      <p:ext uri="{BB962C8B-B14F-4D97-AF65-F5344CB8AC3E}">
        <p14:creationId xmlns:p14="http://schemas.microsoft.com/office/powerpoint/2010/main" val="2160310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b="1" dirty="0">
                <a:solidFill>
                  <a:prstClr val="black">
                    <a:tint val="75000"/>
                  </a:prstClr>
                </a:solidFill>
                <a:latin typeface="Arial" charset="0"/>
              </a:rPr>
              <a:t>EE-222 Computer Architecture         Muhammad Bilal Saif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F7941CA-4174-41EA-AD5D-87709CAA6EDD}" type="slidenum">
              <a:rPr lang="zh-TW" altLang="en-US" b="1" smtClean="0">
                <a:solidFill>
                  <a:prstClr val="black">
                    <a:tint val="75000"/>
                  </a:prstClr>
                </a:solidFill>
                <a:latin typeface="Arial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TW" b="1" dirty="0">
              <a:solidFill>
                <a:prstClr val="black">
                  <a:tint val="75000"/>
                </a:prstClr>
              </a:solidFill>
              <a:latin typeface="Arial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214282" y="1285860"/>
            <a:ext cx="8572560" cy="0"/>
          </a:xfrm>
          <a:prstGeom prst="line">
            <a:avLst/>
          </a:prstGeom>
          <a:ln w="508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7364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0"/>
            <a:ext cx="9144000" cy="1295400"/>
          </a:xfrm>
          <a:noFill/>
          <a:ln/>
        </p:spPr>
        <p:txBody>
          <a:bodyPr>
            <a:normAutofit/>
          </a:bodyPr>
          <a:lstStyle/>
          <a:p>
            <a:r>
              <a:rPr lang="en-US" altLang="ko-KR" sz="4000" dirty="0"/>
              <a:t>LOGICAL SHIFT</a:t>
            </a:r>
          </a:p>
        </p:txBody>
      </p:sp>
      <p:sp>
        <p:nvSpPr>
          <p:cNvPr id="58406" name="Rectangle 3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76250" y="1371601"/>
            <a:ext cx="8199438" cy="5105399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r>
              <a:rPr lang="en-US" altLang="ko-KR" sz="2000" dirty="0"/>
              <a:t>In a logical shift the serial input to the shift is a </a:t>
            </a:r>
            <a:r>
              <a:rPr lang="en-US" altLang="ko-KR" sz="2000" dirty="0">
                <a:solidFill>
                  <a:srgbClr val="FF0000"/>
                </a:solidFill>
              </a:rPr>
              <a:t>0</a:t>
            </a:r>
            <a:r>
              <a:rPr lang="en-US" altLang="ko-KR" sz="2000" dirty="0"/>
              <a:t>.</a:t>
            </a:r>
          </a:p>
          <a:p>
            <a:endParaRPr lang="en-US" altLang="ko-KR" sz="2000" dirty="0"/>
          </a:p>
          <a:p>
            <a:r>
              <a:rPr lang="en-US" altLang="ko-KR" sz="2000" dirty="0"/>
              <a:t>A </a:t>
            </a:r>
            <a:r>
              <a:rPr lang="en-US" altLang="ko-KR" sz="2000" dirty="0">
                <a:solidFill>
                  <a:srgbClr val="FF0000"/>
                </a:solidFill>
              </a:rPr>
              <a:t>right</a:t>
            </a:r>
            <a:r>
              <a:rPr lang="en-US" altLang="ko-KR" sz="2000" dirty="0"/>
              <a:t> logical shift operation:</a:t>
            </a:r>
          </a:p>
          <a:p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r>
              <a:rPr lang="en-US" altLang="ko-KR" sz="2000" dirty="0"/>
              <a:t>A </a:t>
            </a:r>
            <a:r>
              <a:rPr lang="en-US" altLang="ko-KR" sz="2000" dirty="0">
                <a:solidFill>
                  <a:srgbClr val="FF0000"/>
                </a:solidFill>
              </a:rPr>
              <a:t>left</a:t>
            </a:r>
            <a:r>
              <a:rPr lang="en-US" altLang="ko-KR" sz="2000" dirty="0"/>
              <a:t> logical shift operation:</a:t>
            </a:r>
          </a:p>
          <a:p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r>
              <a:rPr lang="en-US" altLang="ko-KR" sz="2000" dirty="0"/>
              <a:t>In a Register Transfer Language, the following notation is used</a:t>
            </a:r>
          </a:p>
          <a:p>
            <a:pPr lvl="1"/>
            <a:r>
              <a:rPr lang="en-US" altLang="ko-KR" sz="1600" i="1" dirty="0" err="1"/>
              <a:t>shl</a:t>
            </a:r>
            <a:r>
              <a:rPr lang="en-US" altLang="ko-KR" sz="1600" dirty="0"/>
              <a:t>  	for a logical shift left</a:t>
            </a:r>
          </a:p>
          <a:p>
            <a:pPr lvl="1"/>
            <a:r>
              <a:rPr lang="en-US" altLang="ko-KR" sz="1600" i="1" dirty="0" err="1"/>
              <a:t>shr</a:t>
            </a:r>
            <a:r>
              <a:rPr lang="en-US" altLang="ko-KR" sz="1600" dirty="0"/>
              <a:t>	for a logical shift right	</a:t>
            </a:r>
          </a:p>
          <a:p>
            <a:pPr lvl="1"/>
            <a:r>
              <a:rPr lang="en-US" altLang="ko-KR" sz="1600" dirty="0"/>
              <a:t>Examples:</a:t>
            </a:r>
          </a:p>
          <a:p>
            <a:pPr lvl="2"/>
            <a:r>
              <a:rPr lang="en-US" altLang="ko-KR" sz="1600" dirty="0"/>
              <a:t>R2 </a:t>
            </a:r>
            <a:r>
              <a:rPr lang="en-US" altLang="ko-KR" sz="1600" dirty="0">
                <a:sym typeface="Symbol" pitchFamily="18" charset="2"/>
              </a:rPr>
              <a:t> </a:t>
            </a:r>
            <a:r>
              <a:rPr lang="en-US" altLang="ko-KR" sz="1600" i="1" dirty="0" err="1">
                <a:sym typeface="Symbol" pitchFamily="18" charset="2"/>
              </a:rPr>
              <a:t>shr</a:t>
            </a:r>
            <a:r>
              <a:rPr lang="en-US" altLang="ko-KR" sz="1600" dirty="0">
                <a:sym typeface="Symbol" pitchFamily="18" charset="2"/>
              </a:rPr>
              <a:t> R2</a:t>
            </a:r>
          </a:p>
          <a:p>
            <a:pPr lvl="2"/>
            <a:r>
              <a:rPr lang="en-US" altLang="ko-KR" sz="1600" dirty="0">
                <a:sym typeface="Symbol" pitchFamily="18" charset="2"/>
              </a:rPr>
              <a:t>R3  </a:t>
            </a:r>
            <a:r>
              <a:rPr lang="en-US" altLang="ko-KR" sz="1600" i="1" dirty="0" err="1">
                <a:sym typeface="Symbol" pitchFamily="18" charset="2"/>
              </a:rPr>
              <a:t>shl</a:t>
            </a:r>
            <a:r>
              <a:rPr lang="en-US" altLang="ko-KR" sz="1600" dirty="0">
                <a:sym typeface="Symbol" pitchFamily="18" charset="2"/>
              </a:rPr>
              <a:t> R3</a:t>
            </a:r>
          </a:p>
          <a:p>
            <a:pPr lvl="2">
              <a:buNone/>
            </a:pPr>
            <a:endParaRPr lang="en-US" altLang="ko-KR" sz="1600" dirty="0">
              <a:sym typeface="Symbol" pitchFamily="18" charset="2"/>
            </a:endParaRPr>
          </a:p>
        </p:txBody>
      </p:sp>
      <p:grpSp>
        <p:nvGrpSpPr>
          <p:cNvPr id="2" name="Group 46"/>
          <p:cNvGrpSpPr>
            <a:grpSpLocks/>
          </p:cNvGrpSpPr>
          <p:nvPr/>
        </p:nvGrpSpPr>
        <p:grpSpPr bwMode="auto">
          <a:xfrm>
            <a:off x="1908175" y="2535238"/>
            <a:ext cx="6557963" cy="700087"/>
            <a:chOff x="1202" y="1117"/>
            <a:chExt cx="4131" cy="441"/>
          </a:xfrm>
        </p:grpSpPr>
        <p:sp>
          <p:nvSpPr>
            <p:cNvPr id="58372" name="Rectangle 4"/>
            <p:cNvSpPr>
              <a:spLocks noChangeArrowheads="1"/>
            </p:cNvSpPr>
            <p:nvPr/>
          </p:nvSpPr>
          <p:spPr bwMode="auto">
            <a:xfrm>
              <a:off x="1701" y="1285"/>
              <a:ext cx="227" cy="27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58373" name="Line 5"/>
            <p:cNvSpPr>
              <a:spLocks noChangeShapeType="1"/>
            </p:cNvSpPr>
            <p:nvPr/>
          </p:nvSpPr>
          <p:spPr bwMode="auto">
            <a:xfrm>
              <a:off x="1928" y="1421"/>
              <a:ext cx="22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58374" name="Rectangle 6"/>
            <p:cNvSpPr>
              <a:spLocks noChangeArrowheads="1"/>
            </p:cNvSpPr>
            <p:nvPr/>
          </p:nvSpPr>
          <p:spPr bwMode="auto">
            <a:xfrm>
              <a:off x="2155" y="1285"/>
              <a:ext cx="227" cy="27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58375" name="Line 7"/>
            <p:cNvSpPr>
              <a:spLocks noChangeShapeType="1"/>
            </p:cNvSpPr>
            <p:nvPr/>
          </p:nvSpPr>
          <p:spPr bwMode="auto">
            <a:xfrm>
              <a:off x="2382" y="1421"/>
              <a:ext cx="22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58376" name="Rectangle 8"/>
            <p:cNvSpPr>
              <a:spLocks noChangeArrowheads="1"/>
            </p:cNvSpPr>
            <p:nvPr/>
          </p:nvSpPr>
          <p:spPr bwMode="auto">
            <a:xfrm>
              <a:off x="2609" y="1285"/>
              <a:ext cx="227" cy="27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58377" name="Line 9"/>
            <p:cNvSpPr>
              <a:spLocks noChangeShapeType="1"/>
            </p:cNvSpPr>
            <p:nvPr/>
          </p:nvSpPr>
          <p:spPr bwMode="auto">
            <a:xfrm>
              <a:off x="2836" y="1421"/>
              <a:ext cx="22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58378" name="Rectangle 10"/>
            <p:cNvSpPr>
              <a:spLocks noChangeArrowheads="1"/>
            </p:cNvSpPr>
            <p:nvPr/>
          </p:nvSpPr>
          <p:spPr bwMode="auto">
            <a:xfrm>
              <a:off x="3063" y="1285"/>
              <a:ext cx="227" cy="27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58379" name="Line 11"/>
            <p:cNvSpPr>
              <a:spLocks noChangeShapeType="1"/>
            </p:cNvSpPr>
            <p:nvPr/>
          </p:nvSpPr>
          <p:spPr bwMode="auto">
            <a:xfrm>
              <a:off x="3290" y="1421"/>
              <a:ext cx="22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58380" name="Rectangle 12"/>
            <p:cNvSpPr>
              <a:spLocks noChangeArrowheads="1"/>
            </p:cNvSpPr>
            <p:nvPr/>
          </p:nvSpPr>
          <p:spPr bwMode="auto">
            <a:xfrm>
              <a:off x="3517" y="1285"/>
              <a:ext cx="227" cy="27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58381" name="Line 13"/>
            <p:cNvSpPr>
              <a:spLocks noChangeShapeType="1"/>
            </p:cNvSpPr>
            <p:nvPr/>
          </p:nvSpPr>
          <p:spPr bwMode="auto">
            <a:xfrm>
              <a:off x="3744" y="1421"/>
              <a:ext cx="22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58382" name="Rectangle 14"/>
            <p:cNvSpPr>
              <a:spLocks noChangeArrowheads="1"/>
            </p:cNvSpPr>
            <p:nvPr/>
          </p:nvSpPr>
          <p:spPr bwMode="auto">
            <a:xfrm>
              <a:off x="3971" y="1285"/>
              <a:ext cx="227" cy="27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58383" name="Line 15"/>
            <p:cNvSpPr>
              <a:spLocks noChangeShapeType="1"/>
            </p:cNvSpPr>
            <p:nvPr/>
          </p:nvSpPr>
          <p:spPr bwMode="auto">
            <a:xfrm>
              <a:off x="4198" y="1421"/>
              <a:ext cx="22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58384" name="Rectangle 16"/>
            <p:cNvSpPr>
              <a:spLocks noChangeArrowheads="1"/>
            </p:cNvSpPr>
            <p:nvPr/>
          </p:nvSpPr>
          <p:spPr bwMode="auto">
            <a:xfrm>
              <a:off x="4425" y="1285"/>
              <a:ext cx="227" cy="27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58385" name="Line 17"/>
            <p:cNvSpPr>
              <a:spLocks noChangeShapeType="1"/>
            </p:cNvSpPr>
            <p:nvPr/>
          </p:nvSpPr>
          <p:spPr bwMode="auto">
            <a:xfrm>
              <a:off x="4652" y="1421"/>
              <a:ext cx="22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58386" name="Rectangle 18"/>
            <p:cNvSpPr>
              <a:spLocks noChangeArrowheads="1"/>
            </p:cNvSpPr>
            <p:nvPr/>
          </p:nvSpPr>
          <p:spPr bwMode="auto">
            <a:xfrm>
              <a:off x="4879" y="1285"/>
              <a:ext cx="227" cy="27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58387" name="Line 19"/>
            <p:cNvSpPr>
              <a:spLocks noChangeShapeType="1"/>
            </p:cNvSpPr>
            <p:nvPr/>
          </p:nvSpPr>
          <p:spPr bwMode="auto">
            <a:xfrm>
              <a:off x="5106" y="1421"/>
              <a:ext cx="22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58388" name="Line 20"/>
            <p:cNvSpPr>
              <a:spLocks noChangeShapeType="1"/>
            </p:cNvSpPr>
            <p:nvPr/>
          </p:nvSpPr>
          <p:spPr bwMode="auto">
            <a:xfrm>
              <a:off x="1474" y="1421"/>
              <a:ext cx="22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58408" name="Line 40"/>
            <p:cNvSpPr>
              <a:spLocks noChangeShapeType="1"/>
            </p:cNvSpPr>
            <p:nvPr/>
          </p:nvSpPr>
          <p:spPr bwMode="auto">
            <a:xfrm flipH="1" flipV="1">
              <a:off x="1384" y="1285"/>
              <a:ext cx="90" cy="1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58413" name="Text Box 45"/>
            <p:cNvSpPr txBox="1">
              <a:spLocks noChangeArrowheads="1"/>
            </p:cNvSpPr>
            <p:nvPr/>
          </p:nvSpPr>
          <p:spPr bwMode="auto">
            <a:xfrm>
              <a:off x="1202" y="1117"/>
              <a:ext cx="196" cy="21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b="1">
                  <a:solidFill>
                    <a:prstClr val="black"/>
                  </a:solidFill>
                  <a:latin typeface="Arial" charset="0"/>
                </a:rPr>
                <a:t>0</a:t>
              </a:r>
            </a:p>
          </p:txBody>
        </p:sp>
      </p:grpSp>
      <p:grpSp>
        <p:nvGrpSpPr>
          <p:cNvPr id="3" name="Group 48"/>
          <p:cNvGrpSpPr>
            <a:grpSpLocks/>
          </p:cNvGrpSpPr>
          <p:nvPr/>
        </p:nvGrpSpPr>
        <p:grpSpPr bwMode="auto">
          <a:xfrm>
            <a:off x="2335213" y="3816350"/>
            <a:ext cx="6507162" cy="720725"/>
            <a:chOff x="1471" y="1888"/>
            <a:chExt cx="4099" cy="454"/>
          </a:xfrm>
        </p:grpSpPr>
        <p:sp>
          <p:nvSpPr>
            <p:cNvPr id="58389" name="Rectangle 21"/>
            <p:cNvSpPr>
              <a:spLocks noChangeArrowheads="1"/>
            </p:cNvSpPr>
            <p:nvPr/>
          </p:nvSpPr>
          <p:spPr bwMode="auto">
            <a:xfrm flipH="1">
              <a:off x="1698" y="2069"/>
              <a:ext cx="227" cy="27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58390" name="Line 22"/>
            <p:cNvSpPr>
              <a:spLocks noChangeShapeType="1"/>
            </p:cNvSpPr>
            <p:nvPr/>
          </p:nvSpPr>
          <p:spPr bwMode="auto">
            <a:xfrm flipH="1">
              <a:off x="1925" y="2205"/>
              <a:ext cx="227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58391" name="Rectangle 23"/>
            <p:cNvSpPr>
              <a:spLocks noChangeArrowheads="1"/>
            </p:cNvSpPr>
            <p:nvPr/>
          </p:nvSpPr>
          <p:spPr bwMode="auto">
            <a:xfrm flipH="1">
              <a:off x="2152" y="2069"/>
              <a:ext cx="227" cy="27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58392" name="Line 24"/>
            <p:cNvSpPr>
              <a:spLocks noChangeShapeType="1"/>
            </p:cNvSpPr>
            <p:nvPr/>
          </p:nvSpPr>
          <p:spPr bwMode="auto">
            <a:xfrm flipH="1">
              <a:off x="2379" y="2205"/>
              <a:ext cx="227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58393" name="Rectangle 25"/>
            <p:cNvSpPr>
              <a:spLocks noChangeArrowheads="1"/>
            </p:cNvSpPr>
            <p:nvPr/>
          </p:nvSpPr>
          <p:spPr bwMode="auto">
            <a:xfrm flipH="1">
              <a:off x="2606" y="2069"/>
              <a:ext cx="227" cy="27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58394" name="Line 26"/>
            <p:cNvSpPr>
              <a:spLocks noChangeShapeType="1"/>
            </p:cNvSpPr>
            <p:nvPr/>
          </p:nvSpPr>
          <p:spPr bwMode="auto">
            <a:xfrm flipH="1">
              <a:off x="2833" y="2205"/>
              <a:ext cx="227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58395" name="Rectangle 27"/>
            <p:cNvSpPr>
              <a:spLocks noChangeArrowheads="1"/>
            </p:cNvSpPr>
            <p:nvPr/>
          </p:nvSpPr>
          <p:spPr bwMode="auto">
            <a:xfrm flipH="1">
              <a:off x="3060" y="2069"/>
              <a:ext cx="227" cy="27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58396" name="Line 28"/>
            <p:cNvSpPr>
              <a:spLocks noChangeShapeType="1"/>
            </p:cNvSpPr>
            <p:nvPr/>
          </p:nvSpPr>
          <p:spPr bwMode="auto">
            <a:xfrm flipH="1">
              <a:off x="3287" y="2205"/>
              <a:ext cx="227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58397" name="Rectangle 29"/>
            <p:cNvSpPr>
              <a:spLocks noChangeArrowheads="1"/>
            </p:cNvSpPr>
            <p:nvPr/>
          </p:nvSpPr>
          <p:spPr bwMode="auto">
            <a:xfrm flipH="1">
              <a:off x="3514" y="2069"/>
              <a:ext cx="227" cy="27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58398" name="Line 30"/>
            <p:cNvSpPr>
              <a:spLocks noChangeShapeType="1"/>
            </p:cNvSpPr>
            <p:nvPr/>
          </p:nvSpPr>
          <p:spPr bwMode="auto">
            <a:xfrm flipH="1">
              <a:off x="3741" y="2205"/>
              <a:ext cx="227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58399" name="Rectangle 31"/>
            <p:cNvSpPr>
              <a:spLocks noChangeArrowheads="1"/>
            </p:cNvSpPr>
            <p:nvPr/>
          </p:nvSpPr>
          <p:spPr bwMode="auto">
            <a:xfrm flipH="1">
              <a:off x="3968" y="2069"/>
              <a:ext cx="227" cy="27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58400" name="Line 32"/>
            <p:cNvSpPr>
              <a:spLocks noChangeShapeType="1"/>
            </p:cNvSpPr>
            <p:nvPr/>
          </p:nvSpPr>
          <p:spPr bwMode="auto">
            <a:xfrm flipH="1">
              <a:off x="4195" y="2205"/>
              <a:ext cx="227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58401" name="Rectangle 33"/>
            <p:cNvSpPr>
              <a:spLocks noChangeArrowheads="1"/>
            </p:cNvSpPr>
            <p:nvPr/>
          </p:nvSpPr>
          <p:spPr bwMode="auto">
            <a:xfrm flipH="1">
              <a:off x="4422" y="2069"/>
              <a:ext cx="227" cy="27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58402" name="Line 34"/>
            <p:cNvSpPr>
              <a:spLocks noChangeShapeType="1"/>
            </p:cNvSpPr>
            <p:nvPr/>
          </p:nvSpPr>
          <p:spPr bwMode="auto">
            <a:xfrm flipH="1">
              <a:off x="4649" y="2205"/>
              <a:ext cx="227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58403" name="Rectangle 35"/>
            <p:cNvSpPr>
              <a:spLocks noChangeArrowheads="1"/>
            </p:cNvSpPr>
            <p:nvPr/>
          </p:nvSpPr>
          <p:spPr bwMode="auto">
            <a:xfrm flipH="1">
              <a:off x="4876" y="2069"/>
              <a:ext cx="227" cy="27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58404" name="Line 36"/>
            <p:cNvSpPr>
              <a:spLocks noChangeShapeType="1"/>
            </p:cNvSpPr>
            <p:nvPr/>
          </p:nvSpPr>
          <p:spPr bwMode="auto">
            <a:xfrm flipH="1">
              <a:off x="5102" y="2205"/>
              <a:ext cx="227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58405" name="Line 37"/>
            <p:cNvSpPr>
              <a:spLocks noChangeShapeType="1"/>
            </p:cNvSpPr>
            <p:nvPr/>
          </p:nvSpPr>
          <p:spPr bwMode="auto">
            <a:xfrm flipH="1">
              <a:off x="1471" y="2205"/>
              <a:ext cx="227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58411" name="Line 43"/>
            <p:cNvSpPr>
              <a:spLocks noChangeShapeType="1"/>
            </p:cNvSpPr>
            <p:nvPr/>
          </p:nvSpPr>
          <p:spPr bwMode="auto">
            <a:xfrm flipV="1">
              <a:off x="5329" y="2114"/>
              <a:ext cx="91" cy="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58415" name="Rectangle 47"/>
            <p:cNvSpPr>
              <a:spLocks noChangeArrowheads="1"/>
            </p:cNvSpPr>
            <p:nvPr/>
          </p:nvSpPr>
          <p:spPr bwMode="auto">
            <a:xfrm>
              <a:off x="5374" y="1888"/>
              <a:ext cx="196" cy="21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b="1">
                  <a:solidFill>
                    <a:prstClr val="black"/>
                  </a:solidFill>
                  <a:latin typeface="Arial" charset="0"/>
                </a:rPr>
                <a:t>0</a:t>
              </a:r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3048000" y="5692914"/>
            <a:ext cx="6096000" cy="70788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prstClr val="black"/>
                </a:solidFill>
                <a:latin typeface="Arial" charset="0"/>
              </a:rPr>
              <a:t>For simplicity we assume that register symbols are same on both sides of arrow, but it is not necessary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2700338" y="2801938"/>
            <a:ext cx="360362" cy="4333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black"/>
                </a:solidFill>
              </a:rPr>
              <a:t>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429000" y="2819400"/>
            <a:ext cx="360362" cy="4333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black"/>
                </a:solidFill>
              </a:rPr>
              <a:t>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35438" y="2819400"/>
            <a:ext cx="360362" cy="4333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black"/>
                </a:solidFill>
              </a:rPr>
              <a:t>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876800" y="2819400"/>
            <a:ext cx="360362" cy="4333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black"/>
                </a:solidFill>
              </a:rP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583238" y="2819400"/>
            <a:ext cx="360362" cy="4333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black"/>
                </a:solidFill>
              </a:rPr>
              <a:t>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24600" y="2819400"/>
            <a:ext cx="360362" cy="4333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black"/>
                </a:solidFill>
              </a:rPr>
              <a:t>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031038" y="2819400"/>
            <a:ext cx="360362" cy="4333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black"/>
                </a:solidFill>
              </a:rPr>
              <a:t>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772400" y="2819400"/>
            <a:ext cx="360362" cy="4333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black"/>
                </a:solidFill>
              </a:rPr>
              <a:t>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001838" y="2767013"/>
            <a:ext cx="360362" cy="4333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black"/>
                </a:solidFill>
              </a:rPr>
              <a:t>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697163" y="4076700"/>
            <a:ext cx="360362" cy="4333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black"/>
                </a:solidFill>
              </a:rPr>
              <a:t>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425825" y="4094162"/>
            <a:ext cx="360362" cy="4333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black"/>
                </a:solidFill>
              </a:rPr>
              <a:t>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132263" y="4094162"/>
            <a:ext cx="360362" cy="4333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black"/>
                </a:solidFill>
              </a:rPr>
              <a:t>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873625" y="4094162"/>
            <a:ext cx="360362" cy="4333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black"/>
                </a:solidFill>
              </a:rPr>
              <a:t>1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580063" y="4094162"/>
            <a:ext cx="360362" cy="4333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black"/>
                </a:solidFill>
              </a:rPr>
              <a:t>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321425" y="4094162"/>
            <a:ext cx="360362" cy="4333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black"/>
                </a:solidFill>
              </a:rPr>
              <a:t>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027863" y="4094162"/>
            <a:ext cx="360362" cy="4333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black"/>
                </a:solidFill>
              </a:rPr>
              <a:t>1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769225" y="4094162"/>
            <a:ext cx="360362" cy="4333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black"/>
                </a:solidFill>
              </a:rPr>
              <a:t>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631238" y="4114800"/>
            <a:ext cx="360362" cy="4333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black"/>
                </a:solidFill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6938788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95 -0.00185 L 0.07969 0.00254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37" y="208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-2.59259E-6 L 0.08038 0.00185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10" y="93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521 -2.59259E-6 L 0.07813 -2.59259E-6 " pathEditMode="relative" rAng="0" ptsTypes="AA">
                                      <p:cBhvr>
                                        <p:cTn id="52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67" y="0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95 -2.59259E-6 L 0.07743 0.00185 " pathEditMode="relative" rAng="0" ptsTypes="AA">
                                      <p:cBhvr>
                                        <p:cTn id="54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10" y="93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12 0.00185 L 0.08125 0.00371 " pathEditMode="relative" rAng="0" ptsTypes="AA">
                                      <p:cBhvr>
                                        <p:cTn id="56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06" y="93"/>
                                    </p:animMotion>
                                  </p:childTnLst>
                                </p:cTn>
                              </p:par>
                              <p:par>
                                <p:cTn id="57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39 0.00185 L 0.07744 0.00371 " pathEditMode="relative" rAng="0" ptsTypes="AA">
                                      <p:cBhvr>
                                        <p:cTn id="58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94" y="93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69 -0.00185 L 0.07882 -4.44444E-6 " pathEditMode="relative" rAng="0" ptsTypes="AA">
                                      <p:cBhvr>
                                        <p:cTn id="60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06" y="93"/>
                                    </p:animMotion>
                                  </p:childTnLst>
                                </p:cTn>
                              </p:par>
                              <p:par>
                                <p:cTn id="61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25 -2.59259E-6 L 0.08645 0.00185 " pathEditMode="relative" rAng="0" ptsTypes="AA">
                                      <p:cBhvr>
                                        <p:cTn id="62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27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5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2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20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20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95 -0.00185 L 0.07969 0.00254 " pathEditMode="relative" rAng="0" ptsTypes="AA">
                                      <p:cBhvr>
                                        <p:cTn id="79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37" y="2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3 -0.00254 L -0.07795 0.00486 " pathEditMode="relative" rAng="0" ptsTypes="AA">
                                      <p:cBhvr>
                                        <p:cTn id="125" dur="2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062" y="370"/>
                                    </p:animMotion>
                                  </p:childTnLst>
                                </p:cTn>
                              </p:par>
                              <p:par>
                                <p:cTn id="126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6 0.00486 L -0.08021 -0.00139 " pathEditMode="relative" rAng="0" ptsTypes="AA">
                                      <p:cBhvr>
                                        <p:cTn id="127" dur="2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889" y="-324"/>
                                    </p:animMotion>
                                  </p:childTnLst>
                                </p:cTn>
                              </p:par>
                              <p:par>
                                <p:cTn id="128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-2.22222E-6 L -0.07986 0.00486 " pathEditMode="relative" rAng="0" ptsTypes="AA">
                                      <p:cBhvr>
                                        <p:cTn id="129" dur="2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93" y="231"/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48 0.00625 L -0.08108 -2.22222E-6 " pathEditMode="relative" rAng="0" ptsTypes="AA">
                                      <p:cBhvr>
                                        <p:cTn id="131" dur="2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889" y="-324"/>
                                    </p:animMotion>
                                  </p:childTnLst>
                                </p:cTn>
                              </p:par>
                              <p:par>
                                <p:cTn id="132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3.33333E-6 L -0.08073 0.00625 " pathEditMode="relative" rAng="0" ptsTypes="AA">
                                      <p:cBhvr>
                                        <p:cTn id="133" dur="2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045" y="301"/>
                                    </p:animMotion>
                                  </p:childTnLst>
                                </p:cTn>
                              </p:par>
                              <p:par>
                                <p:cTn id="134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3.33333E-6 L -0.08334 -3.33333E-6 " pathEditMode="relative" rAng="0" ptsTypes="AA">
                                      <p:cBhvr>
                                        <p:cTn id="135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67" y="0"/>
                                    </p:animMotion>
                                  </p:childTnLst>
                                </p:cTn>
                              </p:par>
                              <p:par>
                                <p:cTn id="136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2.22222E-6 L -0.07986 0.00486 " pathEditMode="relative" rAng="0" ptsTypes="AA">
                                      <p:cBhvr>
                                        <p:cTn id="137" dur="2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93" y="231"/>
                                    </p:animMotion>
                                  </p:childTnLst>
                                </p:cTn>
                              </p:par>
                              <p:par>
                                <p:cTn id="138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47 -0.00486 L -0.08107 -3.33333E-6 " pathEditMode="relative" rAng="0" ptsTypes="AA">
                                      <p:cBhvr>
                                        <p:cTn id="139" dur="2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889" y="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45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2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20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20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500"/>
                            </p:stCondLst>
                            <p:childTnLst>
                              <p:par>
                                <p:cTn id="155" presetID="35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92 -0.00972 L -0.09774 -0.00787 " pathEditMode="relative" rAng="0" ptsTypes="AA">
                                      <p:cBhvr>
                                        <p:cTn id="156" dur="2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427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4" grpId="0" animBg="1"/>
      <p:bldP spid="4" grpId="1" animBg="1"/>
      <p:bldP spid="48" grpId="0" animBg="1"/>
      <p:bldP spid="48" grpId="1" animBg="1"/>
      <p:bldP spid="49" grpId="0" animBg="1"/>
      <p:bldP spid="49" grpId="1" animBg="1"/>
      <p:bldP spid="50" grpId="0" animBg="1"/>
      <p:bldP spid="50" grpId="1" animBg="1"/>
      <p:bldP spid="51" grpId="0" animBg="1"/>
      <p:bldP spid="51" grpId="1" animBg="1"/>
      <p:bldP spid="52" grpId="0" animBg="1"/>
      <p:bldP spid="52" grpId="1" animBg="1"/>
      <p:bldP spid="53" grpId="0" animBg="1"/>
      <p:bldP spid="53" grpId="1" animBg="1"/>
      <p:bldP spid="54" grpId="0" animBg="1"/>
      <p:bldP spid="54" grpId="1" animBg="1"/>
      <p:bldP spid="54" grpId="2" animBg="1"/>
      <p:bldP spid="55" grpId="0" animBg="1"/>
      <p:bldP spid="55" grpId="1" animBg="1"/>
      <p:bldP spid="76" grpId="0" animBg="1"/>
      <p:bldP spid="76" grpId="1" animBg="1"/>
      <p:bldP spid="76" grpId="2" animBg="1"/>
      <p:bldP spid="77" grpId="0" animBg="1"/>
      <p:bldP spid="77" grpId="1" animBg="1"/>
      <p:bldP spid="78" grpId="0" animBg="1"/>
      <p:bldP spid="78" grpId="1" animBg="1"/>
      <p:bldP spid="79" grpId="0" animBg="1"/>
      <p:bldP spid="79" grpId="1" animBg="1"/>
      <p:bldP spid="80" grpId="0" animBg="1"/>
      <p:bldP spid="80" grpId="1" animBg="1"/>
      <p:bldP spid="81" grpId="0" animBg="1"/>
      <p:bldP spid="81" grpId="1" animBg="1"/>
      <p:bldP spid="82" grpId="0" animBg="1"/>
      <p:bldP spid="82" grpId="1" animBg="1"/>
      <p:bldP spid="83" grpId="0" animBg="1"/>
      <p:bldP spid="83" grpId="1" animBg="1"/>
      <p:bldP spid="84" grpId="0" animBg="1"/>
      <p:bldP spid="84" grpId="1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0"/>
            <a:ext cx="9144000" cy="1295400"/>
          </a:xfrm>
          <a:noFill/>
          <a:ln/>
        </p:spPr>
        <p:txBody>
          <a:bodyPr>
            <a:normAutofit/>
          </a:bodyPr>
          <a:lstStyle/>
          <a:p>
            <a:r>
              <a:rPr lang="en-US" altLang="ko-KR" sz="4000" dirty="0"/>
              <a:t>CIRCULAR SHIFT</a:t>
            </a:r>
          </a:p>
        </p:txBody>
      </p:sp>
      <p:sp>
        <p:nvSpPr>
          <p:cNvPr id="59396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76250" y="1447800"/>
            <a:ext cx="7989888" cy="49530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80000"/>
              </a:lnSpc>
            </a:pPr>
            <a:r>
              <a:rPr lang="en-US" altLang="ko-KR" sz="2000" dirty="0"/>
              <a:t>In a circular shift the serial input is the bit that is shifted out of the other end of the register.</a:t>
            </a:r>
          </a:p>
          <a:p>
            <a:pPr>
              <a:lnSpc>
                <a:spcPct val="80000"/>
              </a:lnSpc>
            </a:pPr>
            <a:endParaRPr lang="en-US" altLang="ko-KR" sz="2000" dirty="0"/>
          </a:p>
          <a:p>
            <a:pPr>
              <a:lnSpc>
                <a:spcPct val="80000"/>
              </a:lnSpc>
            </a:pPr>
            <a:r>
              <a:rPr lang="en-US" altLang="ko-KR" sz="2000" dirty="0"/>
              <a:t>A </a:t>
            </a:r>
            <a:r>
              <a:rPr lang="en-US" altLang="ko-KR" sz="2000" dirty="0">
                <a:solidFill>
                  <a:srgbClr val="FF0000"/>
                </a:solidFill>
              </a:rPr>
              <a:t>right</a:t>
            </a:r>
            <a:r>
              <a:rPr lang="en-US" altLang="ko-KR" sz="2000" dirty="0"/>
              <a:t> circular shift operation:</a:t>
            </a:r>
          </a:p>
          <a:p>
            <a:pPr>
              <a:lnSpc>
                <a:spcPct val="80000"/>
              </a:lnSpc>
            </a:pPr>
            <a:endParaRPr lang="en-US" altLang="ko-KR" sz="2000" dirty="0"/>
          </a:p>
          <a:p>
            <a:pPr>
              <a:lnSpc>
                <a:spcPct val="80000"/>
              </a:lnSpc>
            </a:pPr>
            <a:endParaRPr lang="en-US" altLang="ko-KR" sz="2000" dirty="0"/>
          </a:p>
          <a:p>
            <a:pPr>
              <a:lnSpc>
                <a:spcPct val="80000"/>
              </a:lnSpc>
            </a:pPr>
            <a:endParaRPr lang="en-US" altLang="ko-KR" sz="2000" dirty="0"/>
          </a:p>
          <a:p>
            <a:pPr>
              <a:lnSpc>
                <a:spcPct val="80000"/>
              </a:lnSpc>
            </a:pPr>
            <a:r>
              <a:rPr lang="en-US" altLang="ko-KR" sz="2000" dirty="0"/>
              <a:t>A </a:t>
            </a:r>
            <a:r>
              <a:rPr lang="en-US" altLang="ko-KR" sz="2000" dirty="0">
                <a:solidFill>
                  <a:srgbClr val="FF0000"/>
                </a:solidFill>
              </a:rPr>
              <a:t>left</a:t>
            </a:r>
            <a:r>
              <a:rPr lang="en-US" altLang="ko-KR" sz="2000" dirty="0"/>
              <a:t> circular shift operation:</a:t>
            </a:r>
          </a:p>
          <a:p>
            <a:pPr>
              <a:lnSpc>
                <a:spcPct val="80000"/>
              </a:lnSpc>
            </a:pPr>
            <a:endParaRPr lang="en-US" altLang="ko-KR" sz="2000" dirty="0"/>
          </a:p>
          <a:p>
            <a:pPr>
              <a:lnSpc>
                <a:spcPct val="80000"/>
              </a:lnSpc>
            </a:pPr>
            <a:endParaRPr lang="en-US" altLang="ko-KR" sz="2000" dirty="0"/>
          </a:p>
          <a:p>
            <a:pPr>
              <a:lnSpc>
                <a:spcPct val="80000"/>
              </a:lnSpc>
            </a:pPr>
            <a:endParaRPr lang="en-US" altLang="ko-KR" sz="2000" dirty="0"/>
          </a:p>
          <a:p>
            <a:pPr>
              <a:lnSpc>
                <a:spcPct val="80000"/>
              </a:lnSpc>
            </a:pPr>
            <a:r>
              <a:rPr lang="en-US" altLang="ko-KR" sz="2000" dirty="0"/>
              <a:t>In a RTL, the following notation is used</a:t>
            </a:r>
          </a:p>
          <a:p>
            <a:pPr lvl="1">
              <a:lnSpc>
                <a:spcPct val="80000"/>
              </a:lnSpc>
            </a:pPr>
            <a:r>
              <a:rPr lang="en-US" altLang="ko-KR" sz="1600" i="1" dirty="0" err="1"/>
              <a:t>cil</a:t>
            </a:r>
            <a:r>
              <a:rPr lang="en-US" altLang="ko-KR" sz="1600" dirty="0"/>
              <a:t>  	for a circular shift left</a:t>
            </a:r>
          </a:p>
          <a:p>
            <a:pPr lvl="1">
              <a:lnSpc>
                <a:spcPct val="80000"/>
              </a:lnSpc>
            </a:pPr>
            <a:r>
              <a:rPr lang="en-US" altLang="ko-KR" sz="1600" i="1" dirty="0"/>
              <a:t>cir</a:t>
            </a:r>
            <a:r>
              <a:rPr lang="en-US" altLang="ko-KR" sz="1600" dirty="0"/>
              <a:t>	for a circular shift right	</a:t>
            </a:r>
          </a:p>
          <a:p>
            <a:pPr lvl="1">
              <a:lnSpc>
                <a:spcPct val="80000"/>
              </a:lnSpc>
            </a:pPr>
            <a:r>
              <a:rPr lang="en-US" altLang="ko-KR" sz="1600" dirty="0"/>
              <a:t>Examples:</a:t>
            </a:r>
          </a:p>
          <a:p>
            <a:pPr lvl="2">
              <a:lnSpc>
                <a:spcPct val="80000"/>
              </a:lnSpc>
            </a:pPr>
            <a:r>
              <a:rPr lang="en-US" altLang="ko-KR" sz="1600" dirty="0"/>
              <a:t>R2 </a:t>
            </a:r>
            <a:r>
              <a:rPr lang="en-US" altLang="ko-KR" sz="1600" dirty="0">
                <a:sym typeface="Symbol" pitchFamily="18" charset="2"/>
              </a:rPr>
              <a:t> </a:t>
            </a:r>
            <a:r>
              <a:rPr lang="en-US" altLang="ko-KR" sz="1600" i="1" dirty="0">
                <a:sym typeface="Symbol" pitchFamily="18" charset="2"/>
              </a:rPr>
              <a:t>cir</a:t>
            </a:r>
            <a:r>
              <a:rPr lang="en-US" altLang="ko-KR" sz="1600" dirty="0">
                <a:sym typeface="Symbol" pitchFamily="18" charset="2"/>
              </a:rPr>
              <a:t> R2</a:t>
            </a:r>
          </a:p>
          <a:p>
            <a:pPr lvl="2">
              <a:lnSpc>
                <a:spcPct val="80000"/>
              </a:lnSpc>
            </a:pPr>
            <a:r>
              <a:rPr lang="en-US" altLang="ko-KR" sz="1600" dirty="0">
                <a:sym typeface="Symbol" pitchFamily="18" charset="2"/>
              </a:rPr>
              <a:t>R3  </a:t>
            </a:r>
            <a:r>
              <a:rPr lang="en-US" altLang="ko-KR" sz="1600" i="1" dirty="0" err="1">
                <a:sym typeface="Symbol" pitchFamily="18" charset="2"/>
              </a:rPr>
              <a:t>cil</a:t>
            </a:r>
            <a:r>
              <a:rPr lang="en-US" altLang="ko-KR" sz="1600" dirty="0">
                <a:sym typeface="Symbol" pitchFamily="18" charset="2"/>
              </a:rPr>
              <a:t> R3</a:t>
            </a:r>
          </a:p>
          <a:p>
            <a:pPr lvl="2">
              <a:lnSpc>
                <a:spcPct val="80000"/>
              </a:lnSpc>
            </a:pPr>
            <a:endParaRPr lang="en-US" altLang="ko-KR" sz="1600" dirty="0">
              <a:sym typeface="Symbol" pitchFamily="18" charset="2"/>
            </a:endParaRPr>
          </a:p>
        </p:txBody>
      </p:sp>
      <p:grpSp>
        <p:nvGrpSpPr>
          <p:cNvPr id="2" name="Group 53"/>
          <p:cNvGrpSpPr>
            <a:grpSpLocks/>
          </p:cNvGrpSpPr>
          <p:nvPr/>
        </p:nvGrpSpPr>
        <p:grpSpPr bwMode="auto">
          <a:xfrm>
            <a:off x="2333625" y="2667000"/>
            <a:ext cx="6126163" cy="623887"/>
            <a:chOff x="1474" y="1285"/>
            <a:chExt cx="3859" cy="393"/>
          </a:xfrm>
        </p:grpSpPr>
        <p:sp>
          <p:nvSpPr>
            <p:cNvPr id="59398" name="Rectangle 6"/>
            <p:cNvSpPr>
              <a:spLocks noChangeArrowheads="1"/>
            </p:cNvSpPr>
            <p:nvPr/>
          </p:nvSpPr>
          <p:spPr bwMode="auto">
            <a:xfrm>
              <a:off x="1701" y="1285"/>
              <a:ext cx="227" cy="27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59399" name="Line 7"/>
            <p:cNvSpPr>
              <a:spLocks noChangeShapeType="1"/>
            </p:cNvSpPr>
            <p:nvPr/>
          </p:nvSpPr>
          <p:spPr bwMode="auto">
            <a:xfrm>
              <a:off x="1928" y="1421"/>
              <a:ext cx="22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59400" name="Rectangle 8"/>
            <p:cNvSpPr>
              <a:spLocks noChangeArrowheads="1"/>
            </p:cNvSpPr>
            <p:nvPr/>
          </p:nvSpPr>
          <p:spPr bwMode="auto">
            <a:xfrm>
              <a:off x="2155" y="1285"/>
              <a:ext cx="227" cy="27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59401" name="Line 9"/>
            <p:cNvSpPr>
              <a:spLocks noChangeShapeType="1"/>
            </p:cNvSpPr>
            <p:nvPr/>
          </p:nvSpPr>
          <p:spPr bwMode="auto">
            <a:xfrm>
              <a:off x="2382" y="1421"/>
              <a:ext cx="22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59402" name="Rectangle 10"/>
            <p:cNvSpPr>
              <a:spLocks noChangeArrowheads="1"/>
            </p:cNvSpPr>
            <p:nvPr/>
          </p:nvSpPr>
          <p:spPr bwMode="auto">
            <a:xfrm>
              <a:off x="2609" y="1285"/>
              <a:ext cx="227" cy="27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59403" name="Line 11"/>
            <p:cNvSpPr>
              <a:spLocks noChangeShapeType="1"/>
            </p:cNvSpPr>
            <p:nvPr/>
          </p:nvSpPr>
          <p:spPr bwMode="auto">
            <a:xfrm>
              <a:off x="2836" y="1421"/>
              <a:ext cx="22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59404" name="Rectangle 12"/>
            <p:cNvSpPr>
              <a:spLocks noChangeArrowheads="1"/>
            </p:cNvSpPr>
            <p:nvPr/>
          </p:nvSpPr>
          <p:spPr bwMode="auto">
            <a:xfrm>
              <a:off x="3063" y="1285"/>
              <a:ext cx="227" cy="27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59405" name="Line 13"/>
            <p:cNvSpPr>
              <a:spLocks noChangeShapeType="1"/>
            </p:cNvSpPr>
            <p:nvPr/>
          </p:nvSpPr>
          <p:spPr bwMode="auto">
            <a:xfrm>
              <a:off x="3290" y="1421"/>
              <a:ext cx="22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59406" name="Rectangle 14"/>
            <p:cNvSpPr>
              <a:spLocks noChangeArrowheads="1"/>
            </p:cNvSpPr>
            <p:nvPr/>
          </p:nvSpPr>
          <p:spPr bwMode="auto">
            <a:xfrm>
              <a:off x="3517" y="1285"/>
              <a:ext cx="227" cy="27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59407" name="Line 15"/>
            <p:cNvSpPr>
              <a:spLocks noChangeShapeType="1"/>
            </p:cNvSpPr>
            <p:nvPr/>
          </p:nvSpPr>
          <p:spPr bwMode="auto">
            <a:xfrm>
              <a:off x="3744" y="1421"/>
              <a:ext cx="22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59408" name="Rectangle 16"/>
            <p:cNvSpPr>
              <a:spLocks noChangeArrowheads="1"/>
            </p:cNvSpPr>
            <p:nvPr/>
          </p:nvSpPr>
          <p:spPr bwMode="auto">
            <a:xfrm>
              <a:off x="3971" y="1285"/>
              <a:ext cx="227" cy="27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59409" name="Line 17"/>
            <p:cNvSpPr>
              <a:spLocks noChangeShapeType="1"/>
            </p:cNvSpPr>
            <p:nvPr/>
          </p:nvSpPr>
          <p:spPr bwMode="auto">
            <a:xfrm>
              <a:off x="4198" y="1421"/>
              <a:ext cx="22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59410" name="Rectangle 18"/>
            <p:cNvSpPr>
              <a:spLocks noChangeArrowheads="1"/>
            </p:cNvSpPr>
            <p:nvPr/>
          </p:nvSpPr>
          <p:spPr bwMode="auto">
            <a:xfrm>
              <a:off x="4425" y="1285"/>
              <a:ext cx="227" cy="27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59411" name="Line 19"/>
            <p:cNvSpPr>
              <a:spLocks noChangeShapeType="1"/>
            </p:cNvSpPr>
            <p:nvPr/>
          </p:nvSpPr>
          <p:spPr bwMode="auto">
            <a:xfrm>
              <a:off x="4652" y="1421"/>
              <a:ext cx="22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59412" name="Rectangle 20"/>
            <p:cNvSpPr>
              <a:spLocks noChangeArrowheads="1"/>
            </p:cNvSpPr>
            <p:nvPr/>
          </p:nvSpPr>
          <p:spPr bwMode="auto">
            <a:xfrm>
              <a:off x="4879" y="1285"/>
              <a:ext cx="227" cy="27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59413" name="Line 21"/>
            <p:cNvSpPr>
              <a:spLocks noChangeShapeType="1"/>
            </p:cNvSpPr>
            <p:nvPr/>
          </p:nvSpPr>
          <p:spPr bwMode="auto">
            <a:xfrm>
              <a:off x="5106" y="1421"/>
              <a:ext cx="22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59414" name="Line 22"/>
            <p:cNvSpPr>
              <a:spLocks noChangeShapeType="1"/>
            </p:cNvSpPr>
            <p:nvPr/>
          </p:nvSpPr>
          <p:spPr bwMode="auto">
            <a:xfrm>
              <a:off x="1474" y="1421"/>
              <a:ext cx="22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59439" name="Line 47"/>
            <p:cNvSpPr>
              <a:spLocks noChangeShapeType="1"/>
            </p:cNvSpPr>
            <p:nvPr/>
          </p:nvSpPr>
          <p:spPr bwMode="auto">
            <a:xfrm flipV="1">
              <a:off x="1478" y="1421"/>
              <a:ext cx="0" cy="25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59440" name="Line 48"/>
            <p:cNvSpPr>
              <a:spLocks noChangeShapeType="1"/>
            </p:cNvSpPr>
            <p:nvPr/>
          </p:nvSpPr>
          <p:spPr bwMode="auto">
            <a:xfrm flipV="1">
              <a:off x="5329" y="1429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59441" name="Line 49"/>
            <p:cNvSpPr>
              <a:spLocks noChangeShapeType="1"/>
            </p:cNvSpPr>
            <p:nvPr/>
          </p:nvSpPr>
          <p:spPr bwMode="auto">
            <a:xfrm>
              <a:off x="1478" y="1678"/>
              <a:ext cx="385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solidFill>
                  <a:prstClr val="black"/>
                </a:solidFill>
                <a:latin typeface="Arial" charset="0"/>
              </a:endParaRPr>
            </a:p>
          </p:txBody>
        </p:sp>
      </p:grpSp>
      <p:grpSp>
        <p:nvGrpSpPr>
          <p:cNvPr id="3" name="Group 54"/>
          <p:cNvGrpSpPr>
            <a:grpSpLocks/>
          </p:cNvGrpSpPr>
          <p:nvPr/>
        </p:nvGrpSpPr>
        <p:grpSpPr bwMode="auto">
          <a:xfrm>
            <a:off x="2335213" y="4019550"/>
            <a:ext cx="6130925" cy="614362"/>
            <a:chOff x="1471" y="2069"/>
            <a:chExt cx="3862" cy="387"/>
          </a:xfrm>
        </p:grpSpPr>
        <p:sp>
          <p:nvSpPr>
            <p:cNvPr id="59418" name="Rectangle 26"/>
            <p:cNvSpPr>
              <a:spLocks noChangeArrowheads="1"/>
            </p:cNvSpPr>
            <p:nvPr/>
          </p:nvSpPr>
          <p:spPr bwMode="auto">
            <a:xfrm flipH="1">
              <a:off x="1698" y="2069"/>
              <a:ext cx="227" cy="27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59419" name="Line 27"/>
            <p:cNvSpPr>
              <a:spLocks noChangeShapeType="1"/>
            </p:cNvSpPr>
            <p:nvPr/>
          </p:nvSpPr>
          <p:spPr bwMode="auto">
            <a:xfrm flipH="1">
              <a:off x="1925" y="2205"/>
              <a:ext cx="227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59420" name="Rectangle 28"/>
            <p:cNvSpPr>
              <a:spLocks noChangeArrowheads="1"/>
            </p:cNvSpPr>
            <p:nvPr/>
          </p:nvSpPr>
          <p:spPr bwMode="auto">
            <a:xfrm flipH="1">
              <a:off x="2152" y="2069"/>
              <a:ext cx="227" cy="27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59421" name="Line 29"/>
            <p:cNvSpPr>
              <a:spLocks noChangeShapeType="1"/>
            </p:cNvSpPr>
            <p:nvPr/>
          </p:nvSpPr>
          <p:spPr bwMode="auto">
            <a:xfrm flipH="1">
              <a:off x="2379" y="2205"/>
              <a:ext cx="227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59422" name="Rectangle 30"/>
            <p:cNvSpPr>
              <a:spLocks noChangeArrowheads="1"/>
            </p:cNvSpPr>
            <p:nvPr/>
          </p:nvSpPr>
          <p:spPr bwMode="auto">
            <a:xfrm flipH="1">
              <a:off x="2606" y="2069"/>
              <a:ext cx="227" cy="27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59423" name="Line 31"/>
            <p:cNvSpPr>
              <a:spLocks noChangeShapeType="1"/>
            </p:cNvSpPr>
            <p:nvPr/>
          </p:nvSpPr>
          <p:spPr bwMode="auto">
            <a:xfrm flipH="1">
              <a:off x="2833" y="2205"/>
              <a:ext cx="227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59424" name="Rectangle 32"/>
            <p:cNvSpPr>
              <a:spLocks noChangeArrowheads="1"/>
            </p:cNvSpPr>
            <p:nvPr/>
          </p:nvSpPr>
          <p:spPr bwMode="auto">
            <a:xfrm flipH="1">
              <a:off x="3060" y="2069"/>
              <a:ext cx="227" cy="27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59425" name="Line 33"/>
            <p:cNvSpPr>
              <a:spLocks noChangeShapeType="1"/>
            </p:cNvSpPr>
            <p:nvPr/>
          </p:nvSpPr>
          <p:spPr bwMode="auto">
            <a:xfrm flipH="1">
              <a:off x="3287" y="2205"/>
              <a:ext cx="227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59426" name="Rectangle 34"/>
            <p:cNvSpPr>
              <a:spLocks noChangeArrowheads="1"/>
            </p:cNvSpPr>
            <p:nvPr/>
          </p:nvSpPr>
          <p:spPr bwMode="auto">
            <a:xfrm flipH="1">
              <a:off x="3514" y="2069"/>
              <a:ext cx="227" cy="27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59427" name="Line 35"/>
            <p:cNvSpPr>
              <a:spLocks noChangeShapeType="1"/>
            </p:cNvSpPr>
            <p:nvPr/>
          </p:nvSpPr>
          <p:spPr bwMode="auto">
            <a:xfrm flipH="1">
              <a:off x="3741" y="2205"/>
              <a:ext cx="227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59428" name="Rectangle 36"/>
            <p:cNvSpPr>
              <a:spLocks noChangeArrowheads="1"/>
            </p:cNvSpPr>
            <p:nvPr/>
          </p:nvSpPr>
          <p:spPr bwMode="auto">
            <a:xfrm flipH="1">
              <a:off x="3968" y="2069"/>
              <a:ext cx="227" cy="27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59429" name="Line 37"/>
            <p:cNvSpPr>
              <a:spLocks noChangeShapeType="1"/>
            </p:cNvSpPr>
            <p:nvPr/>
          </p:nvSpPr>
          <p:spPr bwMode="auto">
            <a:xfrm flipH="1">
              <a:off x="4195" y="2205"/>
              <a:ext cx="227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59430" name="Rectangle 38"/>
            <p:cNvSpPr>
              <a:spLocks noChangeArrowheads="1"/>
            </p:cNvSpPr>
            <p:nvPr/>
          </p:nvSpPr>
          <p:spPr bwMode="auto">
            <a:xfrm flipH="1">
              <a:off x="4422" y="2069"/>
              <a:ext cx="227" cy="27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59431" name="Line 39"/>
            <p:cNvSpPr>
              <a:spLocks noChangeShapeType="1"/>
            </p:cNvSpPr>
            <p:nvPr/>
          </p:nvSpPr>
          <p:spPr bwMode="auto">
            <a:xfrm flipH="1">
              <a:off x="4649" y="2205"/>
              <a:ext cx="227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59432" name="Rectangle 40"/>
            <p:cNvSpPr>
              <a:spLocks noChangeArrowheads="1"/>
            </p:cNvSpPr>
            <p:nvPr/>
          </p:nvSpPr>
          <p:spPr bwMode="auto">
            <a:xfrm flipH="1">
              <a:off x="4876" y="2069"/>
              <a:ext cx="227" cy="27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59433" name="Line 41"/>
            <p:cNvSpPr>
              <a:spLocks noChangeShapeType="1"/>
            </p:cNvSpPr>
            <p:nvPr/>
          </p:nvSpPr>
          <p:spPr bwMode="auto">
            <a:xfrm flipH="1">
              <a:off x="5102" y="2205"/>
              <a:ext cx="227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59434" name="Line 42"/>
            <p:cNvSpPr>
              <a:spLocks noChangeShapeType="1"/>
            </p:cNvSpPr>
            <p:nvPr/>
          </p:nvSpPr>
          <p:spPr bwMode="auto">
            <a:xfrm flipH="1">
              <a:off x="1471" y="2205"/>
              <a:ext cx="227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59442" name="Line 50"/>
            <p:cNvSpPr>
              <a:spLocks noChangeShapeType="1"/>
            </p:cNvSpPr>
            <p:nvPr/>
          </p:nvSpPr>
          <p:spPr bwMode="auto">
            <a:xfrm flipV="1">
              <a:off x="1482" y="2199"/>
              <a:ext cx="0" cy="25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59443" name="Line 51"/>
            <p:cNvSpPr>
              <a:spLocks noChangeShapeType="1"/>
            </p:cNvSpPr>
            <p:nvPr/>
          </p:nvSpPr>
          <p:spPr bwMode="auto">
            <a:xfrm flipV="1">
              <a:off x="5333" y="2207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solidFill>
                  <a:prstClr val="black"/>
                </a:solidFill>
                <a:latin typeface="Arial" charset="0"/>
              </a:endParaRPr>
            </a:p>
          </p:txBody>
        </p:sp>
        <p:sp>
          <p:nvSpPr>
            <p:cNvPr id="59444" name="Line 52"/>
            <p:cNvSpPr>
              <a:spLocks noChangeShapeType="1"/>
            </p:cNvSpPr>
            <p:nvPr/>
          </p:nvSpPr>
          <p:spPr bwMode="auto">
            <a:xfrm>
              <a:off x="1482" y="2456"/>
              <a:ext cx="385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solidFill>
                  <a:prstClr val="black"/>
                </a:solidFill>
                <a:latin typeface="Arial" charset="0"/>
              </a:endParaRPr>
            </a:p>
          </p:txBody>
        </p:sp>
      </p:grpSp>
      <p:sp>
        <p:nvSpPr>
          <p:cNvPr id="49" name="Rectangle 48"/>
          <p:cNvSpPr/>
          <p:nvPr/>
        </p:nvSpPr>
        <p:spPr>
          <a:xfrm>
            <a:off x="2679700" y="2673351"/>
            <a:ext cx="360362" cy="4333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black"/>
                </a:solidFill>
              </a:rPr>
              <a:t>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08362" y="2690813"/>
            <a:ext cx="360362" cy="4333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black"/>
                </a:solidFill>
              </a:rPr>
              <a:t>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0" y="2690813"/>
            <a:ext cx="360362" cy="4333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black"/>
                </a:solidFill>
              </a:rPr>
              <a:t>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856162" y="2690813"/>
            <a:ext cx="360362" cy="4333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black"/>
                </a:solidFill>
              </a:rPr>
              <a:t>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562600" y="2690813"/>
            <a:ext cx="360362" cy="4333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black"/>
                </a:solidFill>
              </a:rPr>
              <a:t>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03962" y="2690813"/>
            <a:ext cx="360362" cy="4333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black"/>
                </a:solidFill>
              </a:rPr>
              <a:t>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010400" y="2690813"/>
            <a:ext cx="360362" cy="4333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black"/>
                </a:solidFill>
              </a:rPr>
              <a:t>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751762" y="2690813"/>
            <a:ext cx="360362" cy="4333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black"/>
                </a:solidFill>
              </a:rPr>
              <a:t>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697163" y="4038600"/>
            <a:ext cx="360362" cy="4333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black"/>
                </a:solidFill>
              </a:rPr>
              <a:t>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425825" y="4056062"/>
            <a:ext cx="360362" cy="4333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black"/>
                </a:solidFill>
              </a:rPr>
              <a:t>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132263" y="4056062"/>
            <a:ext cx="360362" cy="4333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black"/>
                </a:solidFill>
              </a:rPr>
              <a:t>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873625" y="4056062"/>
            <a:ext cx="360362" cy="4333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black"/>
                </a:solidFill>
              </a:rPr>
              <a:t>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580063" y="4056062"/>
            <a:ext cx="360362" cy="4333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black"/>
                </a:solidFill>
              </a:rPr>
              <a:t>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321425" y="4056062"/>
            <a:ext cx="360362" cy="4333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black"/>
                </a:solidFill>
              </a:rPr>
              <a:t>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027863" y="4056062"/>
            <a:ext cx="360362" cy="4333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black"/>
                </a:solidFill>
              </a:rPr>
              <a:t>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769225" y="4056062"/>
            <a:ext cx="360362" cy="4333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black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3371410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95 -0.00185 L 0.07969 0.00254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37" y="208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-2.59259E-6 L 0.08038 0.00185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10" y="93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-2.59259E-6 L 0.08559 -0.00162 " pathEditMode="relative" rAng="0" ptsTypes="AA">
                                      <p:cBhvr>
                                        <p:cTn id="52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71" y="-93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95 -2.59259E-6 L 0.07743 0.00185 " pathEditMode="relative" rAng="0" ptsTypes="AA">
                                      <p:cBhvr>
                                        <p:cTn id="54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10" y="93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12 0.00185 L 0.08125 0.00371 " pathEditMode="relative" rAng="0" ptsTypes="AA">
                                      <p:cBhvr>
                                        <p:cTn id="56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06" y="93"/>
                                    </p:animMotion>
                                  </p:childTnLst>
                                </p:cTn>
                              </p:par>
                              <p:par>
                                <p:cTn id="57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39 0.00185 L 0.07744 0.00371 " pathEditMode="relative" rAng="0" ptsTypes="AA">
                                      <p:cBhvr>
                                        <p:cTn id="58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94" y="93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69 -0.00185 L 0.07882 -4.44444E-6 " pathEditMode="relative" rAng="0" ptsTypes="AA">
                                      <p:cBhvr>
                                        <p:cTn id="60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06" y="93"/>
                                    </p:animMotion>
                                  </p:childTnLst>
                                </p:cTn>
                              </p:par>
                              <p:par>
                                <p:cTn id="61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25 -2.59259E-6 L 0.08645 0.00185 " pathEditMode="relative" rAng="0" ptsTypes="AA">
                                      <p:cBhvr>
                                        <p:cTn id="62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27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64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646 0.00185 L 0.08264 0.06505 " pathEditMode="relative" rAng="0" ptsTypes="AA">
                                      <p:cBhvr>
                                        <p:cTn id="66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1" y="31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000"/>
                            </p:stCondLst>
                            <p:childTnLst>
                              <p:par>
                                <p:cTn id="68" presetID="35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646 0.06505 L -0.55903 0.0632 " pathEditMode="relative" rAng="0" ptsTypes="AA">
                                      <p:cBhvr>
                                        <p:cTn id="69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274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4000"/>
                            </p:stCondLst>
                            <p:childTnLst>
                              <p:par>
                                <p:cTn id="71" presetID="42" presetClass="path" presetSubtype="0" accel="50000" decel="5000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5069 0.0632 L -0.55069 -0.00347 " pathEditMode="relative" rAng="0" ptsTypes="AA">
                                      <p:cBhvr>
                                        <p:cTn id="72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3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3 -0.00254 L -0.07795 0.00486 " pathEditMode="relative" rAng="0" ptsTypes="AA">
                                      <p:cBhvr>
                                        <p:cTn id="118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062" y="370"/>
                                    </p:animMotion>
                                  </p:childTnLst>
                                </p:cTn>
                              </p:par>
                              <p:par>
                                <p:cTn id="119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6 0.00486 L -0.08021 -0.00139 " pathEditMode="relative" rAng="0" ptsTypes="AA">
                                      <p:cBhvr>
                                        <p:cTn id="120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889" y="-324"/>
                                    </p:animMotion>
                                  </p:childTnLst>
                                </p:cTn>
                              </p:par>
                              <p:par>
                                <p:cTn id="121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3.33333E-6 L -0.07986 -0.0007 " pathEditMode="relative" rAng="0" ptsTypes="AA">
                                      <p:cBhvr>
                                        <p:cTn id="122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93" y="-46"/>
                                    </p:animMotion>
                                  </p:childTnLst>
                                </p:cTn>
                              </p:par>
                              <p:par>
                                <p:cTn id="123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48 0.00625 L -0.08108 -2.22222E-6 " pathEditMode="relative" rAng="0" ptsTypes="AA">
                                      <p:cBhvr>
                                        <p:cTn id="124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889" y="-324"/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26 3.33333E-6 L -0.08212 -0.0007 " pathEditMode="relative" rAng="0" ptsTypes="AA">
                                      <p:cBhvr>
                                        <p:cTn id="126" dur="2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93" y="-46"/>
                                    </p:animMotion>
                                  </p:childTnLst>
                                </p:cTn>
                              </p:par>
                              <p:par>
                                <p:cTn id="127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3.33333E-6 L -0.08334 -3.33333E-6 " pathEditMode="relative" rAng="0" ptsTypes="AA">
                                      <p:cBhvr>
                                        <p:cTn id="128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67" y="0"/>
                                    </p:animMotion>
                                  </p:childTnLst>
                                </p:cTn>
                              </p:par>
                              <p:par>
                                <p:cTn id="129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2.22222E-6 L -0.07986 -2.22222E-6 " pathEditMode="relative" rAng="0" ptsTypes="AA">
                                      <p:cBhvr>
                                        <p:cTn id="130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93" y="0"/>
                                    </p:animMotion>
                                  </p:childTnLst>
                                </p:cTn>
                              </p:par>
                              <p:par>
                                <p:cTn id="131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47 -0.00486 L -0.08107 -3.33333E-6 " pathEditMode="relative" rAng="0" ptsTypes="AA">
                                      <p:cBhvr>
                                        <p:cTn id="132" dur="2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889" y="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64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7795 0.00486 L -0.07291 0.07963 " pathEditMode="relative" rAng="0" ptsTypes="AA">
                                      <p:cBhvr>
                                        <p:cTn id="136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3" y="372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2000"/>
                            </p:stCondLst>
                            <p:childTnLst>
                              <p:par>
                                <p:cTn id="138" presetID="63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7291 0.06852 L 0.56042 0.06852 " pathEditMode="relative" rAng="0" ptsTypes="AA">
                                      <p:cBhvr>
                                        <p:cTn id="139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66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4000"/>
                            </p:stCondLst>
                            <p:childTnLst>
                              <p:par>
                                <p:cTn id="141" presetID="42" presetClass="path" presetSubtype="0" accel="50000" decel="5000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5209 0.06852 L 0.55209 0.00185 " pathEditMode="relative" rAng="0" ptsTypes="AA">
                                      <p:cBhvr>
                                        <p:cTn id="142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3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49" grpId="1" animBg="1"/>
      <p:bldP spid="50" grpId="0" animBg="1"/>
      <p:bldP spid="50" grpId="1" animBg="1"/>
      <p:bldP spid="51" grpId="0" animBg="1"/>
      <p:bldP spid="51" grpId="1" animBg="1"/>
      <p:bldP spid="52" grpId="0" animBg="1"/>
      <p:bldP spid="52" grpId="1" animBg="1"/>
      <p:bldP spid="53" grpId="0" animBg="1"/>
      <p:bldP spid="53" grpId="1" animBg="1"/>
      <p:bldP spid="54" grpId="0" animBg="1"/>
      <p:bldP spid="54" grpId="1" animBg="1"/>
      <p:bldP spid="55" grpId="0" animBg="1"/>
      <p:bldP spid="55" grpId="1" animBg="1"/>
      <p:bldP spid="56" grpId="0" animBg="1"/>
      <p:bldP spid="56" grpId="1" animBg="1"/>
      <p:bldP spid="56" grpId="2" animBg="1"/>
      <p:bldP spid="56" grpId="3" animBg="1"/>
      <p:bldP spid="56" grpId="4" animBg="1"/>
      <p:bldP spid="58" grpId="0" animBg="1"/>
      <p:bldP spid="58" grpId="1" animBg="1"/>
      <p:bldP spid="58" grpId="2" animBg="1"/>
      <p:bldP spid="58" grpId="3" animBg="1"/>
      <p:bldP spid="58" grpId="4" animBg="1"/>
      <p:bldP spid="59" grpId="0" animBg="1"/>
      <p:bldP spid="59" grpId="1" animBg="1"/>
      <p:bldP spid="60" grpId="0" animBg="1"/>
      <p:bldP spid="60" grpId="1" animBg="1"/>
      <p:bldP spid="61" grpId="0" animBg="1"/>
      <p:bldP spid="61" grpId="1" animBg="1"/>
      <p:bldP spid="62" grpId="0" animBg="1"/>
      <p:bldP spid="62" grpId="1" animBg="1"/>
      <p:bldP spid="63" grpId="0" animBg="1"/>
      <p:bldP spid="63" grpId="1" animBg="1"/>
      <p:bldP spid="64" grpId="0" animBg="1"/>
      <p:bldP spid="64" grpId="1" animBg="1"/>
      <p:bldP spid="65" grpId="0" animBg="1"/>
      <p:bldP spid="65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3999" cy="1295400"/>
          </a:xfrm>
          <a:noFill/>
          <a:ln/>
        </p:spPr>
        <p:txBody>
          <a:bodyPr>
            <a:normAutofit/>
          </a:bodyPr>
          <a:lstStyle/>
          <a:p>
            <a:r>
              <a:rPr lang="en-US" altLang="ko-KR" sz="4000" dirty="0"/>
              <a:t>ARITHMETIC SHIFT</a:t>
            </a:r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76250" y="1301750"/>
            <a:ext cx="7989888" cy="525145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ko-KR" sz="2800" dirty="0"/>
              <a:t>An arithmetic shift is meant for </a:t>
            </a:r>
            <a:r>
              <a:rPr lang="en-US" altLang="ko-KR" sz="2800" dirty="0">
                <a:solidFill>
                  <a:srgbClr val="FF0000"/>
                </a:solidFill>
              </a:rPr>
              <a:t>signed</a:t>
            </a:r>
            <a:r>
              <a:rPr lang="en-US" altLang="ko-KR" sz="2800" dirty="0"/>
              <a:t> binary numbers (integer)</a:t>
            </a:r>
          </a:p>
          <a:p>
            <a:r>
              <a:rPr lang="en-US" altLang="ko-KR" sz="2800" dirty="0"/>
              <a:t>The main distinction of an arithmetic shift is that it must keep the </a:t>
            </a:r>
            <a:r>
              <a:rPr lang="en-US" altLang="ko-KR" sz="2800" dirty="0">
                <a:solidFill>
                  <a:srgbClr val="FF0000"/>
                </a:solidFill>
              </a:rPr>
              <a:t>sign</a:t>
            </a:r>
            <a:r>
              <a:rPr lang="en-US" altLang="ko-KR" sz="2800" dirty="0"/>
              <a:t> of the number </a:t>
            </a:r>
            <a:r>
              <a:rPr lang="en-US" altLang="ko-KR" sz="2800" dirty="0">
                <a:solidFill>
                  <a:srgbClr val="FF0000"/>
                </a:solidFill>
              </a:rPr>
              <a:t>same</a:t>
            </a:r>
            <a:r>
              <a:rPr lang="en-US" altLang="ko-KR" sz="2800" dirty="0"/>
              <a:t> while performs the right or left shift.</a:t>
            </a:r>
          </a:p>
          <a:p>
            <a:r>
              <a:rPr lang="en-US" altLang="ko-KR" sz="2800" dirty="0"/>
              <a:t>A right arithmetic shift operation:</a:t>
            </a:r>
          </a:p>
          <a:p>
            <a:endParaRPr lang="en-US" altLang="ko-KR" sz="2800" dirty="0"/>
          </a:p>
          <a:p>
            <a:endParaRPr lang="en-US" altLang="ko-KR" sz="2800" dirty="0"/>
          </a:p>
          <a:p>
            <a:r>
              <a:rPr lang="en-US" altLang="ko-KR" sz="2800" dirty="0"/>
              <a:t>A left arithmetic shift operation:</a:t>
            </a:r>
            <a:endParaRPr lang="en-US" altLang="ko-KR" sz="2800" dirty="0">
              <a:sym typeface="Symbol" pitchFamily="18" charset="2"/>
            </a:endParaRPr>
          </a:p>
          <a:p>
            <a:endParaRPr lang="en-US" altLang="ko-KR" sz="2800" dirty="0"/>
          </a:p>
        </p:txBody>
      </p:sp>
      <p:grpSp>
        <p:nvGrpSpPr>
          <p:cNvPr id="56" name="Group 55"/>
          <p:cNvGrpSpPr/>
          <p:nvPr/>
        </p:nvGrpSpPr>
        <p:grpSpPr>
          <a:xfrm>
            <a:off x="1600200" y="4208760"/>
            <a:ext cx="6148387" cy="744240"/>
            <a:chOff x="2014538" y="3957935"/>
            <a:chExt cx="6148387" cy="744240"/>
          </a:xfrm>
        </p:grpSpPr>
        <p:grpSp>
          <p:nvGrpSpPr>
            <p:cNvPr id="57" name="Group 72"/>
            <p:cNvGrpSpPr>
              <a:grpSpLocks/>
            </p:cNvGrpSpPr>
            <p:nvPr/>
          </p:nvGrpSpPr>
          <p:grpSpPr bwMode="auto">
            <a:xfrm>
              <a:off x="2014535" y="3962406"/>
              <a:ext cx="6148379" cy="739776"/>
              <a:chOff x="1269" y="2546"/>
              <a:chExt cx="3873" cy="466"/>
            </a:xfrm>
          </p:grpSpPr>
          <p:sp>
            <p:nvSpPr>
              <p:cNvPr id="59" name="Rectangle 48"/>
              <p:cNvSpPr>
                <a:spLocks noChangeArrowheads="1"/>
              </p:cNvSpPr>
              <p:nvPr/>
            </p:nvSpPr>
            <p:spPr bwMode="auto">
              <a:xfrm>
                <a:off x="1496" y="2546"/>
                <a:ext cx="227" cy="273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000" b="1">
                  <a:solidFill>
                    <a:prstClr val="black"/>
                  </a:solidFill>
                  <a:latin typeface="Arial" charset="0"/>
                </a:endParaRPr>
              </a:p>
            </p:txBody>
          </p:sp>
          <p:sp>
            <p:nvSpPr>
              <p:cNvPr id="60" name="Line 49"/>
              <p:cNvSpPr>
                <a:spLocks noChangeShapeType="1"/>
              </p:cNvSpPr>
              <p:nvPr/>
            </p:nvSpPr>
            <p:spPr bwMode="auto">
              <a:xfrm>
                <a:off x="1723" y="2682"/>
                <a:ext cx="22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000" b="1">
                  <a:solidFill>
                    <a:prstClr val="black"/>
                  </a:solidFill>
                  <a:latin typeface="Arial" charset="0"/>
                </a:endParaRPr>
              </a:p>
            </p:txBody>
          </p:sp>
          <p:sp>
            <p:nvSpPr>
              <p:cNvPr id="61" name="Rectangle 50"/>
              <p:cNvSpPr>
                <a:spLocks noChangeArrowheads="1"/>
              </p:cNvSpPr>
              <p:nvPr/>
            </p:nvSpPr>
            <p:spPr bwMode="auto">
              <a:xfrm>
                <a:off x="1950" y="2546"/>
                <a:ext cx="227" cy="273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000" b="1">
                  <a:solidFill>
                    <a:prstClr val="black"/>
                  </a:solidFill>
                  <a:latin typeface="Arial" charset="0"/>
                </a:endParaRPr>
              </a:p>
            </p:txBody>
          </p:sp>
          <p:sp>
            <p:nvSpPr>
              <p:cNvPr id="62" name="Line 51"/>
              <p:cNvSpPr>
                <a:spLocks noChangeShapeType="1"/>
              </p:cNvSpPr>
              <p:nvPr/>
            </p:nvSpPr>
            <p:spPr bwMode="auto">
              <a:xfrm>
                <a:off x="2177" y="2682"/>
                <a:ext cx="22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000" b="1">
                  <a:solidFill>
                    <a:prstClr val="black"/>
                  </a:solidFill>
                  <a:latin typeface="Arial" charset="0"/>
                </a:endParaRPr>
              </a:p>
            </p:txBody>
          </p:sp>
          <p:sp>
            <p:nvSpPr>
              <p:cNvPr id="63" name="Rectangle 52"/>
              <p:cNvSpPr>
                <a:spLocks noChangeArrowheads="1"/>
              </p:cNvSpPr>
              <p:nvPr/>
            </p:nvSpPr>
            <p:spPr bwMode="auto">
              <a:xfrm>
                <a:off x="2404" y="2546"/>
                <a:ext cx="227" cy="273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000" b="1">
                  <a:solidFill>
                    <a:prstClr val="black"/>
                  </a:solidFill>
                  <a:latin typeface="Arial" charset="0"/>
                </a:endParaRPr>
              </a:p>
            </p:txBody>
          </p:sp>
          <p:sp>
            <p:nvSpPr>
              <p:cNvPr id="64" name="Line 53"/>
              <p:cNvSpPr>
                <a:spLocks noChangeShapeType="1"/>
              </p:cNvSpPr>
              <p:nvPr/>
            </p:nvSpPr>
            <p:spPr bwMode="auto">
              <a:xfrm>
                <a:off x="2631" y="2682"/>
                <a:ext cx="22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000" b="1">
                  <a:solidFill>
                    <a:prstClr val="black"/>
                  </a:solidFill>
                  <a:latin typeface="Arial" charset="0"/>
                </a:endParaRPr>
              </a:p>
            </p:txBody>
          </p:sp>
          <p:sp>
            <p:nvSpPr>
              <p:cNvPr id="65" name="Rectangle 54"/>
              <p:cNvSpPr>
                <a:spLocks noChangeArrowheads="1"/>
              </p:cNvSpPr>
              <p:nvPr/>
            </p:nvSpPr>
            <p:spPr bwMode="auto">
              <a:xfrm>
                <a:off x="2858" y="2546"/>
                <a:ext cx="227" cy="273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000" b="1">
                  <a:solidFill>
                    <a:prstClr val="black"/>
                  </a:solidFill>
                  <a:latin typeface="Arial" charset="0"/>
                </a:endParaRPr>
              </a:p>
            </p:txBody>
          </p:sp>
          <p:sp>
            <p:nvSpPr>
              <p:cNvPr id="66" name="Line 55"/>
              <p:cNvSpPr>
                <a:spLocks noChangeShapeType="1"/>
              </p:cNvSpPr>
              <p:nvPr/>
            </p:nvSpPr>
            <p:spPr bwMode="auto">
              <a:xfrm>
                <a:off x="3085" y="2682"/>
                <a:ext cx="22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000" b="1">
                  <a:solidFill>
                    <a:prstClr val="black"/>
                  </a:solidFill>
                  <a:latin typeface="Arial" charset="0"/>
                </a:endParaRPr>
              </a:p>
            </p:txBody>
          </p:sp>
          <p:sp>
            <p:nvSpPr>
              <p:cNvPr id="67" name="Rectangle 56"/>
              <p:cNvSpPr>
                <a:spLocks noChangeArrowheads="1"/>
              </p:cNvSpPr>
              <p:nvPr/>
            </p:nvSpPr>
            <p:spPr bwMode="auto">
              <a:xfrm>
                <a:off x="3312" y="2546"/>
                <a:ext cx="227" cy="273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000" b="1">
                  <a:solidFill>
                    <a:prstClr val="black"/>
                  </a:solidFill>
                  <a:latin typeface="Arial" charset="0"/>
                </a:endParaRPr>
              </a:p>
            </p:txBody>
          </p:sp>
          <p:sp>
            <p:nvSpPr>
              <p:cNvPr id="68" name="Line 57"/>
              <p:cNvSpPr>
                <a:spLocks noChangeShapeType="1"/>
              </p:cNvSpPr>
              <p:nvPr/>
            </p:nvSpPr>
            <p:spPr bwMode="auto">
              <a:xfrm>
                <a:off x="3539" y="2682"/>
                <a:ext cx="22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000" b="1">
                  <a:solidFill>
                    <a:prstClr val="black"/>
                  </a:solidFill>
                  <a:latin typeface="Arial" charset="0"/>
                </a:endParaRPr>
              </a:p>
            </p:txBody>
          </p:sp>
          <p:sp>
            <p:nvSpPr>
              <p:cNvPr id="69" name="Rectangle 58"/>
              <p:cNvSpPr>
                <a:spLocks noChangeArrowheads="1"/>
              </p:cNvSpPr>
              <p:nvPr/>
            </p:nvSpPr>
            <p:spPr bwMode="auto">
              <a:xfrm>
                <a:off x="3766" y="2546"/>
                <a:ext cx="227" cy="273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000" b="1">
                  <a:solidFill>
                    <a:prstClr val="black"/>
                  </a:solidFill>
                  <a:latin typeface="Arial" charset="0"/>
                </a:endParaRPr>
              </a:p>
            </p:txBody>
          </p:sp>
          <p:sp>
            <p:nvSpPr>
              <p:cNvPr id="70" name="Line 59"/>
              <p:cNvSpPr>
                <a:spLocks noChangeShapeType="1"/>
              </p:cNvSpPr>
              <p:nvPr/>
            </p:nvSpPr>
            <p:spPr bwMode="auto">
              <a:xfrm>
                <a:off x="3993" y="2682"/>
                <a:ext cx="22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000" b="1">
                  <a:solidFill>
                    <a:prstClr val="black"/>
                  </a:solidFill>
                  <a:latin typeface="Arial" charset="0"/>
                </a:endParaRPr>
              </a:p>
            </p:txBody>
          </p:sp>
          <p:sp>
            <p:nvSpPr>
              <p:cNvPr id="71" name="Rectangle 60"/>
              <p:cNvSpPr>
                <a:spLocks noChangeArrowheads="1"/>
              </p:cNvSpPr>
              <p:nvPr/>
            </p:nvSpPr>
            <p:spPr bwMode="auto">
              <a:xfrm>
                <a:off x="4220" y="2546"/>
                <a:ext cx="227" cy="273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000" b="1">
                  <a:solidFill>
                    <a:prstClr val="black"/>
                  </a:solidFill>
                  <a:latin typeface="Arial" charset="0"/>
                </a:endParaRPr>
              </a:p>
            </p:txBody>
          </p:sp>
          <p:sp>
            <p:nvSpPr>
              <p:cNvPr id="72" name="Line 61"/>
              <p:cNvSpPr>
                <a:spLocks noChangeShapeType="1"/>
              </p:cNvSpPr>
              <p:nvPr/>
            </p:nvSpPr>
            <p:spPr bwMode="auto">
              <a:xfrm>
                <a:off x="4447" y="2682"/>
                <a:ext cx="22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000" b="1">
                  <a:solidFill>
                    <a:prstClr val="black"/>
                  </a:solidFill>
                  <a:latin typeface="Arial" charset="0"/>
                </a:endParaRPr>
              </a:p>
            </p:txBody>
          </p:sp>
          <p:sp>
            <p:nvSpPr>
              <p:cNvPr id="73" name="Rectangle 62"/>
              <p:cNvSpPr>
                <a:spLocks noChangeArrowheads="1"/>
              </p:cNvSpPr>
              <p:nvPr/>
            </p:nvSpPr>
            <p:spPr bwMode="auto">
              <a:xfrm>
                <a:off x="4674" y="2546"/>
                <a:ext cx="227" cy="273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000" b="1">
                  <a:solidFill>
                    <a:prstClr val="black"/>
                  </a:solidFill>
                  <a:latin typeface="Arial" charset="0"/>
                </a:endParaRPr>
              </a:p>
            </p:txBody>
          </p:sp>
          <p:sp>
            <p:nvSpPr>
              <p:cNvPr id="74" name="Line 64"/>
              <p:cNvSpPr>
                <a:spLocks noChangeShapeType="1"/>
              </p:cNvSpPr>
              <p:nvPr/>
            </p:nvSpPr>
            <p:spPr bwMode="auto">
              <a:xfrm>
                <a:off x="1269" y="2682"/>
                <a:ext cx="22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000" b="1">
                  <a:solidFill>
                    <a:prstClr val="black"/>
                  </a:solidFill>
                  <a:latin typeface="Arial" charset="0"/>
                </a:endParaRPr>
              </a:p>
            </p:txBody>
          </p:sp>
          <p:sp>
            <p:nvSpPr>
              <p:cNvPr id="75" name="Line 67"/>
              <p:cNvSpPr>
                <a:spLocks noChangeShapeType="1"/>
              </p:cNvSpPr>
              <p:nvPr/>
            </p:nvSpPr>
            <p:spPr bwMode="auto">
              <a:xfrm>
                <a:off x="1269" y="2682"/>
                <a:ext cx="0" cy="33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000" b="1">
                  <a:solidFill>
                    <a:prstClr val="black"/>
                  </a:solidFill>
                  <a:latin typeface="Arial" charset="0"/>
                </a:endParaRPr>
              </a:p>
            </p:txBody>
          </p:sp>
          <p:sp>
            <p:nvSpPr>
              <p:cNvPr id="76" name="Line 68"/>
              <p:cNvSpPr>
                <a:spLocks noChangeShapeType="1"/>
              </p:cNvSpPr>
              <p:nvPr/>
            </p:nvSpPr>
            <p:spPr bwMode="auto">
              <a:xfrm>
                <a:off x="1269" y="3012"/>
                <a:ext cx="34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000" b="1">
                  <a:solidFill>
                    <a:prstClr val="black"/>
                  </a:solidFill>
                  <a:latin typeface="Arial" charset="0"/>
                </a:endParaRPr>
              </a:p>
            </p:txBody>
          </p:sp>
          <p:sp>
            <p:nvSpPr>
              <p:cNvPr id="77" name="Line 69"/>
              <p:cNvSpPr>
                <a:spLocks noChangeShapeType="1"/>
              </p:cNvSpPr>
              <p:nvPr/>
            </p:nvSpPr>
            <p:spPr bwMode="auto">
              <a:xfrm flipV="1">
                <a:off x="1614" y="2819"/>
                <a:ext cx="0" cy="19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000" b="1">
                  <a:solidFill>
                    <a:prstClr val="black"/>
                  </a:solidFill>
                  <a:latin typeface="Arial" charset="0"/>
                </a:endParaRPr>
              </a:p>
            </p:txBody>
          </p:sp>
          <p:sp>
            <p:nvSpPr>
              <p:cNvPr id="78" name="Line 70"/>
              <p:cNvSpPr>
                <a:spLocks noChangeShapeType="1"/>
              </p:cNvSpPr>
              <p:nvPr/>
            </p:nvSpPr>
            <p:spPr bwMode="auto">
              <a:xfrm>
                <a:off x="4901" y="2682"/>
                <a:ext cx="13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000" b="1">
                  <a:solidFill>
                    <a:prstClr val="black"/>
                  </a:solidFill>
                  <a:latin typeface="Arial" charset="0"/>
                </a:endParaRPr>
              </a:p>
            </p:txBody>
          </p:sp>
          <p:sp>
            <p:nvSpPr>
              <p:cNvPr id="79" name="Line 71"/>
              <p:cNvSpPr>
                <a:spLocks noChangeShapeType="1"/>
              </p:cNvSpPr>
              <p:nvPr/>
            </p:nvSpPr>
            <p:spPr bwMode="auto">
              <a:xfrm>
                <a:off x="5034" y="2682"/>
                <a:ext cx="108" cy="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000" b="1">
                  <a:solidFill>
                    <a:prstClr val="black"/>
                  </a:solidFill>
                  <a:latin typeface="Arial" charset="0"/>
                </a:endParaRPr>
              </a:p>
            </p:txBody>
          </p:sp>
        </p:grpSp>
        <p:sp>
          <p:nvSpPr>
            <p:cNvPr id="58" name="Text Box 116"/>
            <p:cNvSpPr txBox="1">
              <a:spLocks noChangeArrowheads="1"/>
            </p:cNvSpPr>
            <p:nvPr/>
          </p:nvSpPr>
          <p:spPr bwMode="auto">
            <a:xfrm>
              <a:off x="2302054" y="3957935"/>
              <a:ext cx="447558" cy="40011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1000" b="1" dirty="0">
                  <a:solidFill>
                    <a:prstClr val="black"/>
                  </a:solidFill>
                  <a:latin typeface="Arial" pitchFamily="34" charset="0"/>
                  <a:cs typeface="Arial" pitchFamily="34" charset="0"/>
                </a:rPr>
                <a:t>sign</a:t>
              </a: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1000" b="1" dirty="0">
                  <a:solidFill>
                    <a:prstClr val="black"/>
                  </a:solidFill>
                  <a:latin typeface="Arial" pitchFamily="34" charset="0"/>
                  <a:cs typeface="Arial" pitchFamily="34" charset="0"/>
                </a:rPr>
                <a:t>bit</a:t>
              </a:r>
            </a:p>
          </p:txBody>
        </p:sp>
      </p:grpSp>
      <p:grpSp>
        <p:nvGrpSpPr>
          <p:cNvPr id="80" name="Group 79"/>
          <p:cNvGrpSpPr/>
          <p:nvPr/>
        </p:nvGrpSpPr>
        <p:grpSpPr>
          <a:xfrm>
            <a:off x="1371600" y="5410200"/>
            <a:ext cx="6634163" cy="722373"/>
            <a:chOff x="1876425" y="5311775"/>
            <a:chExt cx="6634163" cy="722373"/>
          </a:xfrm>
        </p:grpSpPr>
        <p:grpSp>
          <p:nvGrpSpPr>
            <p:cNvPr id="81" name="Group 115"/>
            <p:cNvGrpSpPr>
              <a:grpSpLocks/>
            </p:cNvGrpSpPr>
            <p:nvPr/>
          </p:nvGrpSpPr>
          <p:grpSpPr bwMode="auto">
            <a:xfrm>
              <a:off x="1876424" y="5311782"/>
              <a:ext cx="6634171" cy="720726"/>
              <a:chOff x="1182" y="3346"/>
              <a:chExt cx="4179" cy="454"/>
            </a:xfrm>
          </p:grpSpPr>
          <p:sp>
            <p:nvSpPr>
              <p:cNvPr id="83" name="Rectangle 94"/>
              <p:cNvSpPr>
                <a:spLocks noChangeArrowheads="1"/>
              </p:cNvSpPr>
              <p:nvPr/>
            </p:nvSpPr>
            <p:spPr bwMode="auto">
              <a:xfrm flipH="1">
                <a:off x="1489" y="3527"/>
                <a:ext cx="227" cy="273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000" b="1">
                  <a:solidFill>
                    <a:prstClr val="black"/>
                  </a:solidFill>
                  <a:latin typeface="Arial" charset="0"/>
                </a:endParaRPr>
              </a:p>
            </p:txBody>
          </p:sp>
          <p:sp>
            <p:nvSpPr>
              <p:cNvPr id="84" name="Line 95"/>
              <p:cNvSpPr>
                <a:spLocks noChangeShapeType="1"/>
              </p:cNvSpPr>
              <p:nvPr/>
            </p:nvSpPr>
            <p:spPr bwMode="auto">
              <a:xfrm flipH="1">
                <a:off x="1716" y="3663"/>
                <a:ext cx="227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000" b="1">
                  <a:solidFill>
                    <a:prstClr val="black"/>
                  </a:solidFill>
                  <a:latin typeface="Arial" charset="0"/>
                </a:endParaRPr>
              </a:p>
            </p:txBody>
          </p:sp>
          <p:sp>
            <p:nvSpPr>
              <p:cNvPr id="85" name="Rectangle 96"/>
              <p:cNvSpPr>
                <a:spLocks noChangeArrowheads="1"/>
              </p:cNvSpPr>
              <p:nvPr/>
            </p:nvSpPr>
            <p:spPr bwMode="auto">
              <a:xfrm flipH="1">
                <a:off x="1943" y="3527"/>
                <a:ext cx="227" cy="273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000" b="1">
                  <a:solidFill>
                    <a:prstClr val="black"/>
                  </a:solidFill>
                  <a:latin typeface="Arial" charset="0"/>
                </a:endParaRPr>
              </a:p>
            </p:txBody>
          </p:sp>
          <p:sp>
            <p:nvSpPr>
              <p:cNvPr id="86" name="Line 97"/>
              <p:cNvSpPr>
                <a:spLocks noChangeShapeType="1"/>
              </p:cNvSpPr>
              <p:nvPr/>
            </p:nvSpPr>
            <p:spPr bwMode="auto">
              <a:xfrm flipH="1">
                <a:off x="2170" y="3663"/>
                <a:ext cx="227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000" b="1">
                  <a:solidFill>
                    <a:prstClr val="black"/>
                  </a:solidFill>
                  <a:latin typeface="Arial" charset="0"/>
                </a:endParaRPr>
              </a:p>
            </p:txBody>
          </p:sp>
          <p:sp>
            <p:nvSpPr>
              <p:cNvPr id="87" name="Rectangle 98"/>
              <p:cNvSpPr>
                <a:spLocks noChangeArrowheads="1"/>
              </p:cNvSpPr>
              <p:nvPr/>
            </p:nvSpPr>
            <p:spPr bwMode="auto">
              <a:xfrm flipH="1">
                <a:off x="2397" y="3527"/>
                <a:ext cx="227" cy="273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000" b="1">
                  <a:solidFill>
                    <a:prstClr val="black"/>
                  </a:solidFill>
                  <a:latin typeface="Arial" charset="0"/>
                </a:endParaRPr>
              </a:p>
            </p:txBody>
          </p:sp>
          <p:sp>
            <p:nvSpPr>
              <p:cNvPr id="88" name="Line 99"/>
              <p:cNvSpPr>
                <a:spLocks noChangeShapeType="1"/>
              </p:cNvSpPr>
              <p:nvPr/>
            </p:nvSpPr>
            <p:spPr bwMode="auto">
              <a:xfrm flipH="1">
                <a:off x="2624" y="3663"/>
                <a:ext cx="227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000" b="1">
                  <a:solidFill>
                    <a:prstClr val="black"/>
                  </a:solidFill>
                  <a:latin typeface="Arial" charset="0"/>
                </a:endParaRPr>
              </a:p>
            </p:txBody>
          </p:sp>
          <p:sp>
            <p:nvSpPr>
              <p:cNvPr id="89" name="Rectangle 100"/>
              <p:cNvSpPr>
                <a:spLocks noChangeArrowheads="1"/>
              </p:cNvSpPr>
              <p:nvPr/>
            </p:nvSpPr>
            <p:spPr bwMode="auto">
              <a:xfrm flipH="1">
                <a:off x="2851" y="3527"/>
                <a:ext cx="227" cy="273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000" b="1">
                  <a:solidFill>
                    <a:prstClr val="black"/>
                  </a:solidFill>
                  <a:latin typeface="Arial" charset="0"/>
                </a:endParaRPr>
              </a:p>
            </p:txBody>
          </p:sp>
          <p:sp>
            <p:nvSpPr>
              <p:cNvPr id="90" name="Line 101"/>
              <p:cNvSpPr>
                <a:spLocks noChangeShapeType="1"/>
              </p:cNvSpPr>
              <p:nvPr/>
            </p:nvSpPr>
            <p:spPr bwMode="auto">
              <a:xfrm flipH="1">
                <a:off x="3078" y="3663"/>
                <a:ext cx="227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000" b="1">
                  <a:solidFill>
                    <a:prstClr val="black"/>
                  </a:solidFill>
                  <a:latin typeface="Arial" charset="0"/>
                </a:endParaRPr>
              </a:p>
            </p:txBody>
          </p:sp>
          <p:sp>
            <p:nvSpPr>
              <p:cNvPr id="91" name="Rectangle 102"/>
              <p:cNvSpPr>
                <a:spLocks noChangeArrowheads="1"/>
              </p:cNvSpPr>
              <p:nvPr/>
            </p:nvSpPr>
            <p:spPr bwMode="auto">
              <a:xfrm flipH="1">
                <a:off x="3305" y="3527"/>
                <a:ext cx="227" cy="273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000" b="1">
                  <a:solidFill>
                    <a:prstClr val="black"/>
                  </a:solidFill>
                  <a:latin typeface="Arial" charset="0"/>
                </a:endParaRPr>
              </a:p>
            </p:txBody>
          </p:sp>
          <p:sp>
            <p:nvSpPr>
              <p:cNvPr id="92" name="Line 103"/>
              <p:cNvSpPr>
                <a:spLocks noChangeShapeType="1"/>
              </p:cNvSpPr>
              <p:nvPr/>
            </p:nvSpPr>
            <p:spPr bwMode="auto">
              <a:xfrm flipH="1">
                <a:off x="3532" y="3663"/>
                <a:ext cx="227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000" b="1">
                  <a:solidFill>
                    <a:prstClr val="black"/>
                  </a:solidFill>
                  <a:latin typeface="Arial" charset="0"/>
                </a:endParaRPr>
              </a:p>
            </p:txBody>
          </p:sp>
          <p:sp>
            <p:nvSpPr>
              <p:cNvPr id="93" name="Rectangle 104"/>
              <p:cNvSpPr>
                <a:spLocks noChangeArrowheads="1"/>
              </p:cNvSpPr>
              <p:nvPr/>
            </p:nvSpPr>
            <p:spPr bwMode="auto">
              <a:xfrm flipH="1">
                <a:off x="3759" y="3527"/>
                <a:ext cx="227" cy="273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000" b="1">
                  <a:solidFill>
                    <a:prstClr val="black"/>
                  </a:solidFill>
                  <a:latin typeface="Arial" charset="0"/>
                </a:endParaRPr>
              </a:p>
            </p:txBody>
          </p:sp>
          <p:sp>
            <p:nvSpPr>
              <p:cNvPr id="94" name="Line 105"/>
              <p:cNvSpPr>
                <a:spLocks noChangeShapeType="1"/>
              </p:cNvSpPr>
              <p:nvPr/>
            </p:nvSpPr>
            <p:spPr bwMode="auto">
              <a:xfrm flipH="1">
                <a:off x="3986" y="3663"/>
                <a:ext cx="227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000" b="1">
                  <a:solidFill>
                    <a:prstClr val="black"/>
                  </a:solidFill>
                  <a:latin typeface="Arial" charset="0"/>
                </a:endParaRPr>
              </a:p>
            </p:txBody>
          </p:sp>
          <p:sp>
            <p:nvSpPr>
              <p:cNvPr id="95" name="Rectangle 106"/>
              <p:cNvSpPr>
                <a:spLocks noChangeArrowheads="1"/>
              </p:cNvSpPr>
              <p:nvPr/>
            </p:nvSpPr>
            <p:spPr bwMode="auto">
              <a:xfrm flipH="1">
                <a:off x="4213" y="3527"/>
                <a:ext cx="227" cy="273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000" b="1">
                  <a:solidFill>
                    <a:prstClr val="black"/>
                  </a:solidFill>
                  <a:latin typeface="Arial" charset="0"/>
                </a:endParaRPr>
              </a:p>
            </p:txBody>
          </p:sp>
          <p:sp>
            <p:nvSpPr>
              <p:cNvPr id="96" name="Line 107"/>
              <p:cNvSpPr>
                <a:spLocks noChangeShapeType="1"/>
              </p:cNvSpPr>
              <p:nvPr/>
            </p:nvSpPr>
            <p:spPr bwMode="auto">
              <a:xfrm flipH="1">
                <a:off x="4440" y="3663"/>
                <a:ext cx="227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000" b="1">
                  <a:solidFill>
                    <a:prstClr val="black"/>
                  </a:solidFill>
                  <a:latin typeface="Arial" charset="0"/>
                </a:endParaRPr>
              </a:p>
            </p:txBody>
          </p:sp>
          <p:sp>
            <p:nvSpPr>
              <p:cNvPr id="97" name="Rectangle 108"/>
              <p:cNvSpPr>
                <a:spLocks noChangeArrowheads="1"/>
              </p:cNvSpPr>
              <p:nvPr/>
            </p:nvSpPr>
            <p:spPr bwMode="auto">
              <a:xfrm flipH="1">
                <a:off x="4667" y="3527"/>
                <a:ext cx="227" cy="273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000" b="1">
                  <a:solidFill>
                    <a:prstClr val="black"/>
                  </a:solidFill>
                  <a:latin typeface="Arial" charset="0"/>
                </a:endParaRPr>
              </a:p>
            </p:txBody>
          </p:sp>
          <p:sp>
            <p:nvSpPr>
              <p:cNvPr id="98" name="Line 109"/>
              <p:cNvSpPr>
                <a:spLocks noChangeShapeType="1"/>
              </p:cNvSpPr>
              <p:nvPr/>
            </p:nvSpPr>
            <p:spPr bwMode="auto">
              <a:xfrm flipH="1">
                <a:off x="4893" y="3663"/>
                <a:ext cx="227" cy="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000" b="1">
                  <a:solidFill>
                    <a:prstClr val="black"/>
                  </a:solidFill>
                  <a:latin typeface="Arial" charset="0"/>
                </a:endParaRPr>
              </a:p>
            </p:txBody>
          </p:sp>
          <p:sp>
            <p:nvSpPr>
              <p:cNvPr id="99" name="Line 111"/>
              <p:cNvSpPr>
                <a:spLocks noChangeShapeType="1"/>
              </p:cNvSpPr>
              <p:nvPr/>
            </p:nvSpPr>
            <p:spPr bwMode="auto">
              <a:xfrm flipV="1">
                <a:off x="5120" y="3572"/>
                <a:ext cx="91" cy="9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000" b="1">
                  <a:solidFill>
                    <a:prstClr val="black"/>
                  </a:solidFill>
                  <a:latin typeface="Arial" charset="0"/>
                </a:endParaRPr>
              </a:p>
            </p:txBody>
          </p:sp>
          <p:sp>
            <p:nvSpPr>
              <p:cNvPr id="100" name="Rectangle 112"/>
              <p:cNvSpPr>
                <a:spLocks noChangeArrowheads="1"/>
              </p:cNvSpPr>
              <p:nvPr/>
            </p:nvSpPr>
            <p:spPr bwMode="auto">
              <a:xfrm>
                <a:off x="5165" y="3346"/>
                <a:ext cx="196" cy="214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ko-KR" b="1">
                    <a:solidFill>
                      <a:prstClr val="black"/>
                    </a:solidFill>
                    <a:latin typeface="Arial" charset="0"/>
                  </a:rPr>
                  <a:t>0</a:t>
                </a:r>
              </a:p>
            </p:txBody>
          </p:sp>
          <p:sp>
            <p:nvSpPr>
              <p:cNvPr id="101" name="Line 113"/>
              <p:cNvSpPr>
                <a:spLocks noChangeShapeType="1"/>
              </p:cNvSpPr>
              <p:nvPr/>
            </p:nvSpPr>
            <p:spPr bwMode="auto">
              <a:xfrm flipH="1">
                <a:off x="1269" y="3664"/>
                <a:ext cx="22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000" b="1">
                  <a:solidFill>
                    <a:prstClr val="black"/>
                  </a:solidFill>
                  <a:latin typeface="Arial" charset="0"/>
                </a:endParaRPr>
              </a:p>
            </p:txBody>
          </p:sp>
          <p:sp>
            <p:nvSpPr>
              <p:cNvPr id="102" name="Line 114"/>
              <p:cNvSpPr>
                <a:spLocks noChangeShapeType="1"/>
              </p:cNvSpPr>
              <p:nvPr/>
            </p:nvSpPr>
            <p:spPr bwMode="auto">
              <a:xfrm flipH="1">
                <a:off x="1182" y="3664"/>
                <a:ext cx="87" cy="13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000" b="1">
                  <a:solidFill>
                    <a:prstClr val="black"/>
                  </a:solidFill>
                  <a:latin typeface="Arial" charset="0"/>
                </a:endParaRPr>
              </a:p>
            </p:txBody>
          </p:sp>
        </p:grpSp>
        <p:sp>
          <p:nvSpPr>
            <p:cNvPr id="82" name="Text Box 117"/>
            <p:cNvSpPr txBox="1">
              <a:spLocks noChangeArrowheads="1"/>
            </p:cNvSpPr>
            <p:nvPr/>
          </p:nvSpPr>
          <p:spPr bwMode="auto">
            <a:xfrm>
              <a:off x="2339975" y="5634038"/>
              <a:ext cx="447558" cy="40011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1000" b="1" dirty="0">
                  <a:solidFill>
                    <a:prstClr val="black"/>
                  </a:solidFill>
                  <a:latin typeface="Arial" pitchFamily="34" charset="0"/>
                  <a:cs typeface="Arial" pitchFamily="34" charset="0"/>
                </a:rPr>
                <a:t>sign</a:t>
              </a: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1000" b="1" dirty="0">
                  <a:solidFill>
                    <a:prstClr val="black"/>
                  </a:solidFill>
                  <a:latin typeface="Arial" pitchFamily="34" charset="0"/>
                  <a:cs typeface="Arial" pitchFamily="34" charset="0"/>
                </a:rPr>
                <a:t>bit</a:t>
              </a:r>
            </a:p>
          </p:txBody>
        </p:sp>
      </p:grpSp>
      <p:sp>
        <p:nvSpPr>
          <p:cNvPr id="53" name="Rectangle 52"/>
          <p:cNvSpPr/>
          <p:nvPr/>
        </p:nvSpPr>
        <p:spPr>
          <a:xfrm>
            <a:off x="1981200" y="4191000"/>
            <a:ext cx="381000" cy="457200"/>
          </a:xfrm>
          <a:prstGeom prst="rect">
            <a:avLst/>
          </a:prstGeom>
          <a:solidFill>
            <a:srgbClr val="FF7C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white"/>
                </a:solidFill>
              </a:rPr>
              <a:t>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667000" y="4191000"/>
            <a:ext cx="381000" cy="457200"/>
          </a:xfrm>
          <a:prstGeom prst="rect">
            <a:avLst/>
          </a:prstGeom>
          <a:solidFill>
            <a:srgbClr val="FF7C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white"/>
                </a:solidFill>
              </a:rPr>
              <a:t>0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352800" y="4191000"/>
            <a:ext cx="381000" cy="457200"/>
          </a:xfrm>
          <a:prstGeom prst="rect">
            <a:avLst/>
          </a:prstGeom>
          <a:solidFill>
            <a:srgbClr val="FF7C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white"/>
                </a:solidFill>
              </a:rPr>
              <a:t>1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114800" y="4191000"/>
            <a:ext cx="381000" cy="457200"/>
          </a:xfrm>
          <a:prstGeom prst="rect">
            <a:avLst/>
          </a:prstGeom>
          <a:solidFill>
            <a:srgbClr val="FF7C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white"/>
                </a:solidFill>
              </a:rPr>
              <a:t>0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800600" y="4191000"/>
            <a:ext cx="381000" cy="457200"/>
          </a:xfrm>
          <a:prstGeom prst="rect">
            <a:avLst/>
          </a:prstGeom>
          <a:solidFill>
            <a:srgbClr val="FF7C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white"/>
                </a:solidFill>
              </a:rPr>
              <a:t>0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562600" y="4191000"/>
            <a:ext cx="381000" cy="457200"/>
          </a:xfrm>
          <a:prstGeom prst="rect">
            <a:avLst/>
          </a:prstGeom>
          <a:solidFill>
            <a:srgbClr val="FF7C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white"/>
                </a:solidFill>
              </a:rPr>
              <a:t>1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248400" y="4191000"/>
            <a:ext cx="381000" cy="457200"/>
          </a:xfrm>
          <a:prstGeom prst="rect">
            <a:avLst/>
          </a:prstGeom>
          <a:solidFill>
            <a:srgbClr val="FF7C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white"/>
                </a:solidFill>
              </a:rPr>
              <a:t>1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010400" y="4191000"/>
            <a:ext cx="381000" cy="457200"/>
          </a:xfrm>
          <a:prstGeom prst="rect">
            <a:avLst/>
          </a:prstGeom>
          <a:solidFill>
            <a:srgbClr val="FF7C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white"/>
                </a:solidFill>
              </a:rPr>
              <a:t>1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981200" y="4191000"/>
            <a:ext cx="381000" cy="457200"/>
          </a:xfrm>
          <a:prstGeom prst="rect">
            <a:avLst/>
          </a:prstGeom>
          <a:solidFill>
            <a:srgbClr val="FF7C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white"/>
                </a:solidFill>
              </a:rPr>
              <a:t>1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590800" y="5715000"/>
            <a:ext cx="381000" cy="457200"/>
          </a:xfrm>
          <a:prstGeom prst="rect">
            <a:avLst/>
          </a:prstGeom>
          <a:solidFill>
            <a:srgbClr val="FF7C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white"/>
                </a:solidFill>
              </a:rPr>
              <a:t>1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276600" y="5715000"/>
            <a:ext cx="381000" cy="457200"/>
          </a:xfrm>
          <a:prstGeom prst="rect">
            <a:avLst/>
          </a:prstGeom>
          <a:solidFill>
            <a:srgbClr val="FF7C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white"/>
                </a:solidFill>
              </a:rPr>
              <a:t>1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038600" y="5715000"/>
            <a:ext cx="381000" cy="457200"/>
          </a:xfrm>
          <a:prstGeom prst="rect">
            <a:avLst/>
          </a:prstGeom>
          <a:solidFill>
            <a:srgbClr val="FF7C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white"/>
                </a:solidFill>
              </a:rPr>
              <a:t>0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724400" y="5715000"/>
            <a:ext cx="381000" cy="457200"/>
          </a:xfrm>
          <a:prstGeom prst="rect">
            <a:avLst/>
          </a:prstGeom>
          <a:solidFill>
            <a:srgbClr val="FF7C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white"/>
                </a:solidFill>
              </a:rPr>
              <a:t>0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486400" y="5715000"/>
            <a:ext cx="381000" cy="457200"/>
          </a:xfrm>
          <a:prstGeom prst="rect">
            <a:avLst/>
          </a:prstGeom>
          <a:solidFill>
            <a:srgbClr val="FF7C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white"/>
                </a:solidFill>
              </a:rPr>
              <a:t>1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172200" y="5715000"/>
            <a:ext cx="381000" cy="457200"/>
          </a:xfrm>
          <a:prstGeom prst="rect">
            <a:avLst/>
          </a:prstGeom>
          <a:solidFill>
            <a:srgbClr val="FF7C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white"/>
                </a:solidFill>
              </a:rPr>
              <a:t>1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6858000" y="5715000"/>
            <a:ext cx="381000" cy="457200"/>
          </a:xfrm>
          <a:prstGeom prst="rect">
            <a:avLst/>
          </a:prstGeom>
          <a:solidFill>
            <a:srgbClr val="FF7C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white"/>
                </a:solidFill>
              </a:rPr>
              <a:t>1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828800" y="5715000"/>
            <a:ext cx="381000" cy="457200"/>
          </a:xfrm>
          <a:prstGeom prst="rect">
            <a:avLst/>
          </a:prstGeom>
          <a:solidFill>
            <a:srgbClr val="FF7C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white"/>
                </a:solidFill>
              </a:rPr>
              <a:t>1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8077200" y="5715000"/>
            <a:ext cx="381000" cy="457200"/>
          </a:xfrm>
          <a:prstGeom prst="rect">
            <a:avLst/>
          </a:prstGeom>
          <a:solidFill>
            <a:srgbClr val="FF7C8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prstClr val="white"/>
                </a:solidFill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71918740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4.44444E-6 L 0.07917 -4.44444E-6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" y="0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17 -4.44444E-6 L 0.08334 -4.44444E-6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" y="0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16 -4.44444E-6 L 0.08333 -4.44444E-6 " pathEditMode="relative" rAng="0" ptsTypes="AA">
                                      <p:cBhvr>
                                        <p:cTn id="44" dur="2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" y="0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4.44444E-6 L 0.07916 -4.44444E-6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" y="0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17 -4.44444E-6 L 0.08333 -4.44444E-6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" y="0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834 -4.44444E-6 L 0.0875 -4.44444E-6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" y="0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4.44444E-6 L 0.12083 -4.44444E-6 " pathEditMode="relative" rAng="0" ptsTypes="AA">
                                      <p:cBhvr>
                                        <p:cTn id="52" dur="2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3" presetClass="exit" presetSubtype="32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6" dur="5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556E-17 -4.44444E-6 L 0.075 -4.44444E-6 " pathEditMode="relative" rAng="0" ptsTypes="AA">
                                      <p:cBhvr>
                                        <p:cTn id="68" dur="2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3.33333E-6 L -0.1 3.33333E-6 " pathEditMode="relative" rAng="0" ptsTypes="AA">
                                      <p:cBhvr>
                                        <p:cTn id="106" dur="2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" y="0"/>
                                    </p:animMotion>
                                  </p:childTnLst>
                                </p:cTn>
                              </p:par>
                              <p:par>
                                <p:cTn id="107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3.33333E-6 L -0.08333 3.33333E-6 " pathEditMode="relative" rAng="0" ptsTypes="AA">
                                      <p:cBhvr>
                                        <p:cTn id="108" dur="2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2" y="0"/>
                                    </p:animMotion>
                                  </p:childTnLst>
                                </p:cTn>
                              </p:par>
                              <p:par>
                                <p:cTn id="109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833 3.33333E-6 L -0.07917 3.33333E-6 " pathEditMode="relative" rAng="0" ptsTypes="AA">
                                      <p:cBhvr>
                                        <p:cTn id="110" dur="2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" y="0"/>
                                    </p:animMotion>
                                  </p:childTnLst>
                                </p:cTn>
                              </p:par>
                              <p:par>
                                <p:cTn id="111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3.33333E-6 L -0.07917 3.33333E-6 " pathEditMode="relative" rAng="0" ptsTypes="AA">
                                      <p:cBhvr>
                                        <p:cTn id="112" dur="2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0" y="0"/>
                                    </p:animMotion>
                                  </p:childTnLst>
                                </p:cTn>
                              </p:par>
                              <p:par>
                                <p:cTn id="113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3.33333E-6 L -0.08333 3.33333E-6 " pathEditMode="relative" rAng="0" ptsTypes="AA">
                                      <p:cBhvr>
                                        <p:cTn id="114" dur="2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2" y="0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3.33333E-6 L -0.0875 3.33333E-6 " pathEditMode="relative" rAng="0" ptsTypes="AA">
                                      <p:cBhvr>
                                        <p:cTn id="116" dur="20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4" y="0"/>
                                    </p:animMotion>
                                  </p:childTnLst>
                                </p:cTn>
                              </p:par>
                              <p:par>
                                <p:cTn id="117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3.33333E-6 L -0.075 3.33333E-6 " pathEditMode="relative" rAng="0" ptsTypes="AA">
                                      <p:cBhvr>
                                        <p:cTn id="118" dur="2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8" y="0"/>
                                    </p:animMotion>
                                  </p:childTnLst>
                                </p:cTn>
                              </p:par>
                              <p:par>
                                <p:cTn id="119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16 3.33333E-6 L -0.075 3.33333E-6 " pathEditMode="relative" rAng="0" ptsTypes="AA">
                                      <p:cBhvr>
                                        <p:cTn id="120" dur="2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3" presetClass="exit" presetSubtype="32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4" dur="500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3.33333E-6 L -0.12917 3.33333E-6 " pathEditMode="relative" rAng="0" ptsTypes="AA">
                                      <p:cBhvr>
                                        <p:cTn id="136" dur="2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5" grpId="0" animBg="1"/>
      <p:bldP spid="55" grpId="1" animBg="1"/>
      <p:bldP spid="103" grpId="0" animBg="1"/>
      <p:bldP spid="103" grpId="1" animBg="1"/>
      <p:bldP spid="104" grpId="0" animBg="1"/>
      <p:bldP spid="104" grpId="1" animBg="1"/>
      <p:bldP spid="105" grpId="0" animBg="1"/>
      <p:bldP spid="105" grpId="1" animBg="1"/>
      <p:bldP spid="106" grpId="0" animBg="1"/>
      <p:bldP spid="106" grpId="1" animBg="1"/>
      <p:bldP spid="107" grpId="0" animBg="1"/>
      <p:bldP spid="107" grpId="1" animBg="1"/>
      <p:bldP spid="108" grpId="0" animBg="1"/>
      <p:bldP spid="108" grpId="1" animBg="1"/>
      <p:bldP spid="108" grpId="2" animBg="1"/>
      <p:bldP spid="109" grpId="0" animBg="1"/>
      <p:bldP spid="109" grpId="1" animBg="1"/>
      <p:bldP spid="110" grpId="0" animBg="1"/>
      <p:bldP spid="110" grpId="1" animBg="1"/>
      <p:bldP spid="111" grpId="0" animBg="1"/>
      <p:bldP spid="111" grpId="1" animBg="1"/>
      <p:bldP spid="112" grpId="0" animBg="1"/>
      <p:bldP spid="112" grpId="1" animBg="1"/>
      <p:bldP spid="113" grpId="0" animBg="1"/>
      <p:bldP spid="113" grpId="1" animBg="1"/>
      <p:bldP spid="114" grpId="0" animBg="1"/>
      <p:bldP spid="114" grpId="1" animBg="1"/>
      <p:bldP spid="115" grpId="0" animBg="1"/>
      <p:bldP spid="115" grpId="1" animBg="1"/>
      <p:bldP spid="116" grpId="0" animBg="1"/>
      <p:bldP spid="116" grpId="1" animBg="1"/>
      <p:bldP spid="117" grpId="0" animBg="1"/>
      <p:bldP spid="117" grpId="1" animBg="1"/>
      <p:bldP spid="117" grpId="2" animBg="1"/>
      <p:bldP spid="118" grpId="0" animBg="1"/>
      <p:bldP spid="118" grpId="1" animBg="1"/>
    </p:bldLst>
  </p:timing>
</p:sld>
</file>

<file path=ppt/theme/theme1.xml><?xml version="1.0" encoding="utf-8"?>
<a:theme xmlns:a="http://schemas.openxmlformats.org/drawingml/2006/main" name="themeForMSDefen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0D8A4568A5DE40AC61A35EFF403D19" ma:contentTypeVersion="0" ma:contentTypeDescription="Create a new document." ma:contentTypeScope="" ma:versionID="3c3f2411b4d590f02e8daf272b7ec43e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764bea3eb9b1a5be8fd57fac5fb459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EB39309-352D-4ED7-B914-C365A60555C2}"/>
</file>

<file path=customXml/itemProps2.xml><?xml version="1.0" encoding="utf-8"?>
<ds:datastoreItem xmlns:ds="http://schemas.openxmlformats.org/officeDocument/2006/customXml" ds:itemID="{F391C2C6-FE85-412C-98C4-6703DDC5B443}"/>
</file>

<file path=customXml/itemProps3.xml><?xml version="1.0" encoding="utf-8"?>
<ds:datastoreItem xmlns:ds="http://schemas.openxmlformats.org/officeDocument/2006/customXml" ds:itemID="{C8FA83E1-A219-4FF2-BCC8-C3A9B02245D4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265</Words>
  <Application>Microsoft Office PowerPoint</Application>
  <PresentationFormat>On-screen Show (4:3)</PresentationFormat>
  <Paragraphs>101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Symbol</vt:lpstr>
      <vt:lpstr>themeForMSDefence</vt:lpstr>
      <vt:lpstr>LOGICAL SHIFT</vt:lpstr>
      <vt:lpstr>CIRCULAR SHIFT</vt:lpstr>
      <vt:lpstr>ARITHMETIC SHIFT</vt:lpstr>
    </vt:vector>
  </TitlesOfParts>
  <Company>Deftones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LOGICAL SHIFT</dc:title>
  <dc:creator>Muhammad Bilal Saif</dc:creator>
  <cp:lastModifiedBy>Dr. Rashid Jillani</cp:lastModifiedBy>
  <cp:revision>3</cp:revision>
  <dcterms:created xsi:type="dcterms:W3CDTF">2011-02-02T08:40:14Z</dcterms:created>
  <dcterms:modified xsi:type="dcterms:W3CDTF">2025-02-10T06:25:26Z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0x010100700D8A4568A5DE40AC61A35EFF403D19</vt:lpwstr>
  </property>
</Properties>
</file>