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88" r:id="rId9"/>
    <p:sldId id="289" r:id="rId10"/>
    <p:sldId id="290" r:id="rId11"/>
    <p:sldId id="291" r:id="rId12"/>
    <p:sldId id="296" r:id="rId13"/>
    <p:sldId id="292" r:id="rId14"/>
    <p:sldId id="297" r:id="rId15"/>
    <p:sldId id="293" r:id="rId16"/>
    <p:sldId id="294" r:id="rId17"/>
    <p:sldId id="298" r:id="rId18"/>
    <p:sldId id="29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C0183A4-0EE7-4BEA-961A-8570972FC88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B0EED5A-7428-4656-9AD9-33AFCA358EF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Lecture 04</a:t>
            </a:r>
            <a:br>
              <a:rPr lang="en-US" dirty="0"/>
            </a:br>
            <a:r>
              <a:rPr lang="en-US" b="1" dirty="0"/>
              <a:t>Aligarh &amp; Deoband Educational Movements</a:t>
            </a:r>
            <a:br>
              <a:rPr lang="en-US" b="1" dirty="0"/>
            </a:br>
            <a:r>
              <a:rPr lang="en-US" sz="3600" dirty="0"/>
              <a:t>(Historical Background, Aims &amp; Impacts on Muslim Societies)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US" sz="2800" b="1" dirty="0"/>
              <a:t>Aftermath of the 1857 Revolt: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The 1857 Sepoy Mutiny had devastating consequences for the Muslim community. They were often blamed by the British for the uprising, leading to increased suspicion and discrimination.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The decline of the Mughal Empire had already left Muslims in a state of political and economic vulnerability.</a:t>
            </a:r>
          </a:p>
          <a:p>
            <a:pPr lvl="0" algn="just"/>
            <a:r>
              <a:rPr lang="en-US" sz="2800" b="1" dirty="0"/>
              <a:t>British Policies: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British educational and administrative policies favored those with Western education, placing Muslims, who largely adhered to traditional learning, at a disadvantage.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This resulted in a sense of marginalization and a growing gap between Muslims and other communities.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Historical Background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73352"/>
          </a:xfrm>
        </p:spPr>
        <p:txBody>
          <a:bodyPr>
            <a:normAutofit fontScale="70000" lnSpcReduction="20000"/>
          </a:bodyPr>
          <a:lstStyle/>
          <a:p>
            <a:pPr lvl="0" algn="just"/>
            <a:r>
              <a:rPr lang="en-US" sz="2800" b="1" dirty="0"/>
              <a:t>Modern Education: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Sir Syed recognized the importance of Western education for the progress of Muslims. He believed that acquiring modern scientific knowledge was essential for their advancement.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The establishment of the Muhammadan Anglo-Oriental (MAO) College (later Aligarh Muslim University) was the cornerstone of this effort.</a:t>
            </a:r>
          </a:p>
          <a:p>
            <a:pPr lvl="0" algn="just"/>
            <a:r>
              <a:rPr lang="en-US" sz="2800" b="1" dirty="0"/>
              <a:t>Social Reform: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Sir Syed sought to reform Muslim society by promoting rationalism, challenging outdated customs, and encouraging a scientific temperament.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He emphasized the need for Muslims to adapt to the changing times while preserving their core religious values.</a:t>
            </a:r>
          </a:p>
          <a:p>
            <a:pPr lvl="0" algn="just"/>
            <a:r>
              <a:rPr lang="en-US" sz="2800" b="1" dirty="0"/>
              <a:t>Political Strategy: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He advocated for a policy of reconciliation with the British government, believing that cooperation, rather than confrontation, was the best way to safeguard Muslim interests.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He advised Muslims to focus on education and avoid political agitation, recognizing their relative weakness.</a:t>
            </a:r>
          </a:p>
          <a:p>
            <a:pPr lvl="0" algn="just"/>
            <a:r>
              <a:rPr lang="en-US" sz="2800" b="1" dirty="0"/>
              <a:t>Promotion of Urdu: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Sir Syed was a strong proponent of the Urdu language, which he viewed as a unifying factor for the Muslim community.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Aims of the Aligarh Movement: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lvl="0" algn="just"/>
            <a:r>
              <a:rPr lang="en-US" sz="2800" b="1" dirty="0"/>
              <a:t>Educational Transformation: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Aligarh Muslim University became a center of modern learning, producing a generation of educated Muslim leaders.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The movement fostered the spread of modern education among Muslims across the subcontinent.</a:t>
            </a:r>
          </a:p>
          <a:p>
            <a:pPr lvl="0" algn="just"/>
            <a:r>
              <a:rPr lang="en-US" sz="2800" b="1" dirty="0"/>
              <a:t>Social and Cultural Renaissance: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It contributed to the modernization of Muslim society, promoting progressive ideas and challenging traditional norms.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It had a significant impact on Urdu literature and intellectual thought.</a:t>
            </a:r>
          </a:p>
          <a:p>
            <a:pPr lvl="0" algn="just"/>
            <a:r>
              <a:rPr lang="en-US" sz="2800" b="1" dirty="0"/>
              <a:t>Political Awakening: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The movement played a crucial role in the development of Muslim political consciousness, laying the groundwork for future political movements.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It contributed to the development of </a:t>
            </a:r>
            <a:r>
              <a:rPr lang="en-US">
                <a:solidFill>
                  <a:schemeClr val="tx1"/>
                </a:solidFill>
              </a:rPr>
              <a:t>the two-nation </a:t>
            </a:r>
            <a:r>
              <a:rPr lang="en-US" dirty="0">
                <a:solidFill>
                  <a:schemeClr val="tx1"/>
                </a:solidFill>
              </a:rPr>
              <a:t>theory, and therefore had a large impact on the creation of Pakistan.</a:t>
            </a:r>
          </a:p>
          <a:p>
            <a:pPr lvl="0" algn="just"/>
            <a:r>
              <a:rPr lang="en-US" sz="2800" b="1" dirty="0"/>
              <a:t>Long-Term Legacy:</a:t>
            </a:r>
            <a:r>
              <a:rPr lang="en-US" sz="2800" dirty="0"/>
              <a:t>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The Aligarh Movement's legacy continues to influence Muslim education and political thought in the region.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Aligarh Muslim University remains a prominent institution of higher learning.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723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Impacts of the Aligarh Movement: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C00412-27EA-C7BE-D978-A60A5F0BC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lvl="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 Syed's emphasis on modern education was driven by his belief in the need for Muslims to adapt to the changing world.</a:t>
            </a:r>
          </a:p>
          <a:p>
            <a:pPr marR="0" lvl="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Aligarh Movement had a profound impact on the social, educational, and political landscape of the Indian subcontinent.</a:t>
            </a:r>
          </a:p>
          <a:p>
            <a:pPr marR="0" lvl="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important to view the 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ligarh movement in the context of the time period it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occured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D19E7C-BC2A-4C9C-1B7A-3660C2B2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Points to Remember: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63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79A335-1185-CBD7-CC25-34AA88636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Deoband Movement, centered around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Darul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Uloom Deoband, stands as a significant Islamic revivalist movement that emerged in 19th-century India. It's crucial to understand its distinct characteristics and how it differed from the Aligarh Movement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20C4A-989B-51A4-4FAF-AA78E9F7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Deoband Educational Movement </a:t>
            </a:r>
          </a:p>
        </p:txBody>
      </p:sp>
    </p:spTree>
    <p:extLst>
      <p:ext uri="{BB962C8B-B14F-4D97-AF65-F5344CB8AC3E}">
        <p14:creationId xmlns:p14="http://schemas.microsoft.com/office/powerpoint/2010/main" val="170211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91156A-D8B5-D552-F258-79C5D2CB7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Reaction to Colonial Rule: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Like the Aligarh Movement, Deoband arose in the aftermath of the 1857 Revolt. However, its response to British colonial rule was markedly different.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was founded in 1866, and was in part a reaction to the decline of traditional Islamic authority under British rule.  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Preservation of Islamic Teachings: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movement aimed to preserve and revitalize Islamic teachings, focusing on orthodox Sunni Islam and the Hanafi school of jurisprudence.  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CD48ED-E761-4820-5C54-80925251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Historical Background:</a:t>
            </a:r>
          </a:p>
        </p:txBody>
      </p:sp>
    </p:spTree>
    <p:extLst>
      <p:ext uri="{BB962C8B-B14F-4D97-AF65-F5344CB8AC3E}">
        <p14:creationId xmlns:p14="http://schemas.microsoft.com/office/powerpoint/2010/main" val="212964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BAC2BB-3565-5294-CB00-CC5DDF76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64832"/>
          </a:xfrm>
        </p:spPr>
        <p:txBody>
          <a:bodyPr>
            <a:normAutofit lnSpcReduction="10000"/>
          </a:bodyPr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Religious Revival: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goal was to restore the purity of Islamic doctrine and practice.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Emphasis was placed on strict adherence to the Quran and Sunnah (the teachings and practices of Prophet Muhammad).  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Islamic Education: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Darul</a:t>
            </a: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Uloom Deoband was established as a center for traditional Islamic learning, focusing on religious sciences.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movement sought to produce religious scholars ('ulama') who could guide the Muslim community.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34AF99-2653-7672-6318-0AAC36903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72344"/>
          </a:xfrm>
        </p:spPr>
        <p:txBody>
          <a:bodyPr>
            <a:normAutofit/>
          </a:bodyPr>
          <a:lstStyle/>
          <a:p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Aims of the Deoband Movement: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10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DF6C83-124C-3FE0-47AD-C046A93F0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Resistance to Colonial Influence: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Deoband advocated for resisting Western cultural and religious influences, viewing British rule as a threat to Islamic identity.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Unlike Sir Syed Ahmed Khan, the Deoband movement was against cooperation with the British rule.  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Preservation of Sharia: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Deoband movement focused on the preservation and implementation of Sharia law.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6D74D1-ACCA-5272-9F65-7E16AC6B1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Continued… </a:t>
            </a:r>
          </a:p>
        </p:txBody>
      </p:sp>
    </p:spTree>
    <p:extLst>
      <p:ext uri="{BB962C8B-B14F-4D97-AF65-F5344CB8AC3E}">
        <p14:creationId xmlns:p14="http://schemas.microsoft.com/office/powerpoint/2010/main" val="83229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33AF6D-D0C3-2910-1ADF-AF2324A4F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Educational Influence: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Darul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Uloom Deoband became a prominent center of Islamic learning, influencing the development of madrasas across South Asia.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played a vital role in preserving traditional Islamic scholarship.  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Religious and Social Impact: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movement reinforced orthodox Islamic practices and beliefs, shaping the religious identity of many Muslims in the region.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created a very large network of religious schools.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1F4A6D-B295-A099-F6EF-26C3BFEC6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44352"/>
          </a:xfrm>
        </p:spPr>
        <p:txBody>
          <a:bodyPr>
            <a:normAutofit/>
          </a:bodyPr>
          <a:lstStyle/>
          <a:p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Impacts of the Deoband Movement: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71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259134-A510-776D-D009-D16AD556E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Political Role: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Deoband played a significant role in the Indian independence movement, with many of its scholars actively opposing British rule.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played a very large roll in the opposing of the two nation theory, and supported a united </a:t>
            </a:r>
            <a:r>
              <a:rPr lang="en-US" sz="20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</a:t>
            </a:r>
            <a:r>
              <a:rPr 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Long-Term Legacy: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Deoband Movement continues to influence Islamic thought and education in various parts of the world.   </a:t>
            </a:r>
          </a:p>
          <a:p>
            <a:pPr algn="just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has a large following in many countries, and has a very large network of religious schools world wide.  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C48D0B-8749-FE28-84EA-ADF94A81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Continued… </a:t>
            </a:r>
          </a:p>
        </p:txBody>
      </p:sp>
    </p:spTree>
    <p:extLst>
      <p:ext uri="{BB962C8B-B14F-4D97-AF65-F5344CB8AC3E}">
        <p14:creationId xmlns:p14="http://schemas.microsoft.com/office/powerpoint/2010/main" val="25558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256789-0393-CC06-034A-DDB21F1FA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Similarities: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Response to British Colonialism: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 movements emerged in the aftermath of the 1857 Revolt, which significantly impacted the Muslim community.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 aimed to address the decline of Muslim influence and empower the community in a changing political landscape.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Emphasis on Education: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 movements recognized the importance of education for the upliftment of the Muslim community, although they differed in their educational philosophies.  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Influence on Muslim Identity: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 movements played a crucial role in shaping Muslim identity and consciousness in the Indian subcontinent.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E999F7-4803-2C02-546C-9EBD4099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Compare &amp; Contrast:</a:t>
            </a:r>
          </a:p>
        </p:txBody>
      </p:sp>
    </p:spTree>
    <p:extLst>
      <p:ext uri="{BB962C8B-B14F-4D97-AF65-F5344CB8AC3E}">
        <p14:creationId xmlns:p14="http://schemas.microsoft.com/office/powerpoint/2010/main" val="79564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9C9DAF-80D3-AF4C-FE08-54C726346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47320"/>
          </a:xfrm>
        </p:spPr>
        <p:txBody>
          <a:bodyPr>
            <a:no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Differences: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Educational Philosophy: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Aligarh: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Advocated for modern, Western-style education, emphasizing science and technology, to enable Muslims to compete in the British-dominated system.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Deoband: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Focused on traditional Islamic education, emphasizing religious sciences and the preservation of Islamic orthodoxy.  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Political Stance: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Aligarh: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Promoted a policy of reconciliation and cooperation with the British government, believing it was essential for Muslim advancement.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Deoband: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Adopted a more resistant stance towards British rule, emphasizing the preservation of Islamic values and opposing Western cultural influence.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Reform: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Aligarh: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Advocated for social reform within the Muslim community, encouraging modernization and challenging outdated customs.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Deoband:</a:t>
            </a: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Focused primarily on religious reform, emphasizing strict adherence to Islamic principles and practices.   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06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B7EBF1-FEDE-CF30-1874-CF816812C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Focus: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Aligarh: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Had a broader focus, encompassing education, social reform, and political strategy.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Deoband: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Primarily focused on religious revival and the preservation of traditional Islamic learning.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Approach to Western Culture: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Aligarh: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Embraced aspects of Western culture and knowledge, seeing them as essential for progress.  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Deoband: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Rejected Western cultural influence, emphasizing the preservation of Islamic identity and values.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1214DE-3B07-F95A-4E01-3FB55B1E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Continued… </a:t>
            </a:r>
          </a:p>
        </p:txBody>
      </p:sp>
    </p:spTree>
    <p:extLst>
      <p:ext uri="{BB962C8B-B14F-4D97-AF65-F5344CB8AC3E}">
        <p14:creationId xmlns:p14="http://schemas.microsoft.com/office/powerpoint/2010/main" val="190986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DBBD1A-8E5B-7E42-2848-BE5218322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essence, the Aligarh Movement represented a modernist approach, seeking to integrate Muslims into the modern world through Western education, while the Deoband Movement represented a traditionalist approach, seeking to preserve Islamic orthodoxy and resist Western influence.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BFE6B5-E571-E4DD-C973-C75CD6BE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 </a:t>
            </a:r>
          </a:p>
        </p:txBody>
      </p:sp>
    </p:spTree>
    <p:extLst>
      <p:ext uri="{BB962C8B-B14F-4D97-AF65-F5344CB8AC3E}">
        <p14:creationId xmlns:p14="http://schemas.microsoft.com/office/powerpoint/2010/main" val="142798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B1E2B370F904DA4DC256C91E33DA1" ma:contentTypeVersion="4" ma:contentTypeDescription="Create a new document." ma:contentTypeScope="" ma:versionID="d22a53b562a839ec80bbadd7c3e1d740">
  <xsd:schema xmlns:xsd="http://www.w3.org/2001/XMLSchema" xmlns:xs="http://www.w3.org/2001/XMLSchema" xmlns:p="http://schemas.microsoft.com/office/2006/metadata/properties" xmlns:ns2="82487fd6-72ff-43c9-9ec9-8aa4f7264c1c" targetNamespace="http://schemas.microsoft.com/office/2006/metadata/properties" ma:root="true" ma:fieldsID="e8f2f43b49dcb57b63921c9708ecc3a9" ns2:_="">
    <xsd:import namespace="82487fd6-72ff-43c9-9ec9-8aa4f7264c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87fd6-72ff-43c9-9ec9-8aa4f7264c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2D4942-9556-4954-BE22-BEEFA277ED74}"/>
</file>

<file path=customXml/itemProps2.xml><?xml version="1.0" encoding="utf-8"?>
<ds:datastoreItem xmlns:ds="http://schemas.openxmlformats.org/officeDocument/2006/customXml" ds:itemID="{94A64695-B9F6-479D-B71A-5240BCF05E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5A081AD-D775-499A-8F1E-6A82BB95E8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297</TotalTime>
  <Words>1301</Words>
  <Application>Microsoft Office PowerPoint</Application>
  <PresentationFormat>On-screen Show (4:3)</PresentationFormat>
  <Paragraphs>100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Paper</vt:lpstr>
      <vt:lpstr> Lecture 04 Aligarh &amp; Deoband Educational Movements (Historical Background, Aims &amp; Impacts on Muslim Societies)</vt:lpstr>
      <vt:lpstr>Historical Background</vt:lpstr>
      <vt:lpstr>Aims of the Aligarh Movement:</vt:lpstr>
      <vt:lpstr>Impacts of the Aligarh Movement:</vt:lpstr>
      <vt:lpstr>Key Points to Remember:</vt:lpstr>
      <vt:lpstr>Deoband Educational Movement </vt:lpstr>
      <vt:lpstr>Historical Background:</vt:lpstr>
      <vt:lpstr>Aims of the Deoband Movement:</vt:lpstr>
      <vt:lpstr>Continued… </vt:lpstr>
      <vt:lpstr>Impacts of the Deoband Movement:</vt:lpstr>
      <vt:lpstr>Continued… </vt:lpstr>
      <vt:lpstr>Compare &amp; Contrast:</vt:lpstr>
      <vt:lpstr>PowerPoint Presentation</vt:lpstr>
      <vt:lpstr>Continued… </vt:lpstr>
      <vt:lpstr>Conclusion: 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Historical Background of Pakistan</dc:title>
  <dc:creator>Muhammad Rizwan Shah</dc:creator>
  <cp:lastModifiedBy>Mr. Fida Ur Rahman Lecturer SMgS</cp:lastModifiedBy>
  <cp:revision>54</cp:revision>
  <dcterms:created xsi:type="dcterms:W3CDTF">2023-09-03T02:20:14Z</dcterms:created>
  <dcterms:modified xsi:type="dcterms:W3CDTF">2025-03-19T22:18:01Z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0x010100F38B1E2B370F904DA4DC256C91E33DA1</vt:lpwstr>
  </property>
</Properties>
</file>